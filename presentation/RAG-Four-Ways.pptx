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title and the promise in one breath: by the end you'll know how to make an LLM answer from YOUR data, in Java, on the stack you already run. The three constraints in the subtitle are the whole pitch — grounded answers, Java, no infrastructure change. Dry opener works here: 'Thirty minutes, one live demo, and zero containers — so if you're from DevOps, you can relax.'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dry-humor opener — keep it deadpan, don't oversell the jokes. Beat 1: acknowledge the audience's fatigue honestly; they ARE tired of new frameworks, and pretending otherwise loses them. Beat 2: the reframe — the hard part of enterprise AI isn't the model, it's safely connecting it to data you already hold. Beat 3: that's an integration problem, and integration is Java's home turf. End on: 'So this isn't revolutionary. It's just convenient — and convenient is underrated.'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don't tell. Read the invented answer aloud in a confident voice, then deadpan: 'Every word of that is fiction, delivered with total confidence.' Make the stakes concrete with the support-bot line — that's the moment a skeptical enterprise audience leans in. The punchline sets up RAG without naming it yet: we don't need a smarter model, we need to hand this one the relevant facts at question time. In the live demo this is exactly the /ask/no-rag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acronym in plain words before any diagram. The open-book-exam analogy is the one people remember — lead with it. Stress that the model itself doesn't change; what changes is the prompt it receives. That reframing matters for the skeptics: there's no fine-tuning, no retraining, no GPU farm. Retrieve / Augment / Generate are literally the R-A-G; name them so the next slide's pipeline feels inevitable.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conceptual slide. Walk the two phases distinctly. Ingestion happens once at startup and is the expensive part; querying happens per request and is cheap. The key insight non-ML people miss: retrieval is by MEANING, not keywords — 'time off' can match 'holiday policy' because they're near each other in vector space. Don't get academic about embeddings; one sentence ('text in, vector out, similar meanings land close together') is enough. Mention the offloaded SVG is available if they want to reuse the diagram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not just click the cloud vendor's RAG checkbox' slide. The honest answer: managed RAG is great until you need to change how retrieval works — and you always need to change how retrieval works. Lead with ownership and lock-in; those are the two that survive procurement review. Handle the Spring AI question pre-emptively — someone will ask. Be fair to Spring AI, don't trash it; the point is framework-agnostic flexibility, and that LangChain4j can live inside Spring too, so it's not an either/or religious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biggest misconception: people think Quarkus means native images and a whole new ops model. It doesn't. JVM mode is a normal JAR on standard OpenJDK — and crucially the Elastic APM Java agent attaches the same way it does to their Spring apps today. That single fact is what makes this palatable to a conservative DevOps team. Native image is a tool for a specific job (serverless, scale-to-zero), not a requirement. Say plainly: 'For most of you, ship the JAR. Native is there if you ever need it.' Live-reload is the developer hook — and it's what makes the demo feel like magic without being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request end to end with your finger: curl hits the JAX-RS resource, which calls the AiService; the augmentor retrieves chunks from the embedding store and injects them; the call goes to the LLM provider; the answer comes back. Then point at the bottom strip — the entire thing runs inside one JVM, so the Elastic APM agent they already run sees every hop as a span. That's the 'no new infrastructure' promise made literal. Note the two swappable boxes (store and provider) — that's tomorrow's slide. The offloaded architecture.svg is the cleaner asset for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here is how little there is. An interface plus an annotation IS the integration — Quarkus generates the implementation at build time. Contrast with what they'd expect from a typical SDK integration: HTTP client, serialization, retries, error handling. All gone. Emphasize config-over-code: the API key and model name are properties, so swapping gpt-4o-mini for a local Ollama model is a config change, not a code change. This is the lock-in argument made tangible. Note this slide has NO RAG yet — it's the plain model. RAG is the next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entire demo — put it up and tell them 'we're going to hit these four endpoints with the identical question and watch the answer change.' The newsletters matter: a generic model has zero chance of knowing what's in your internal newsletter, so the no-rag failure is unambiguous, not a coin-flip. 01 is the problem; 02 shows the mechanism; 03 shows the ergonomics; 04 shows you can tune it when naive retrieval misses. Tell them you'll return to this slide between demo steps so nobody gets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2. The teaching goal: demystify RAG by showing there's no magic — retriever plus injector, both readable. Don't read every line; point at the two comments ('find relevant chunks' / 'paste them into the prompt') — that's the mental model. Then set up the punchline for the next slide: 'This is good to understand once. Now watch how much of it you can delete.' In the live app this is /ask/naive-rag and it returns the correct, grounded answer the no-rag endpoint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3, and the biggest 'oh' of the talk. Put this next to slide 11 mentally: all that builder code became one config property. Hit /ask/easy-rag with the SAME question — identical grounded answer, none of the wiring. The honest caveat keeps you credible: easy-rag is a fantastic on-ramp and a fine default, but it hides knobs. When naive retrieval gives a bad answer (next slide), you drop back to the explicit augmentor. This is the modernization beat too: the old workshop needed a separate embeddings dependency and manual ingestion code; today it's an extension plus a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4, and the 'RAG is not one thing' payoff. First hit /ask/naive-rag with the deliberately vague question and let it whiff — that honesty buys credibility. Then hit /ask/transformed-rag with the SAME vague question and watch it recover. The point: the failure mode of naive RAG is usually the QUESTION, not the model — and the cheapest fix is to rewrite the question before embedding it. The ladder on the right tells them what to try and in what order, so they leave with a debugging procedure, not just a demo. Reranking is named but deliberately out of scope (needs a paid scoring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of the talk. Keep the four beats tight and always return to slide 10 between them so the audience tracks where you are. Pacing: step 1 and 2 back to back is the money shot — wrong answer, then right answer, same question. Let the contrast breathe. Step 3 is the ergonomics reveal; step 4 is the 'RAG needs tuning' reveal. Practical: set OPENAI_API_KEY beforehand, have the dev server already warm, and have the backup recording one Alt-Tab away. The self-deprecating 'panic window' line both gets a laugh and quietly sets expectations if the Wi-Fi betrays you. Known gotcha on the demo machine: a local Netty loopback/VPN issue and the easy-rag Docker dev-card can block startup — start the server before the session, don't cold-start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over the people who sign off on production. Lead with the JVM-mode message because that's what they'll actually deploy: the APM agent attaches unchanged, full stop. Show the -javaagent line so it's concrete and unscary — it's the same incantation they already use. Only mention OpenTelemetry as the native-image path, and frame it as a feature (vendor-neutral, no lock-in) rather than a downgrade. If you have a Kibana screenshot of an LLM call as a span, this is where you flash it — seeing the model latency in their existing dashboard is the moment it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De-risk the obvious objection: 'sure, it demos, but productionizing AI is a project.' Here it isn't — each row is a swap, not a redesign. Hit the two that matter most to this audience: pgvector means the vector store is just Postgres (a database they already run and back up), and Ollama means the whole thing can run on-prem with no data leaving the building — the answer to every security and compliance question. Cost shape: the LLM API is the variable cost and it scales with usage; the infrastructure footprint stays flat. Close on 'your DevOps team keeps their runbook' — that's the sentence that gets this into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closing line cleanly and then stop talking — let it sit. 'If you can write a REST endpoint, you can build an AI feature. You've been overthinking it.' The four chips are the entire talk compressed: ground it with RAG, stay in Java, keep your APM, ship the JAR. If someone only remembers four words, these are the four. Then open Q&amp;A. Anticipated questions: data security (answer: Ollama on-prem, nothing leaves the building), cost (scales with tokens, infra flat), 'why not Python' (your data and your ops are already here), and 'is JVM mode really fine for prod' (yes — native is an option, not a requirement). Leave the resource links on screen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5486400" y="-548640"/>
            <a:ext cx="6949440" cy="3840480"/>
          </a:xfrm>
          <a:prstGeom prst="rect">
            <a:avLst/>
          </a:prstGeom>
          <a:noFill/>
          <a:ln/>
        </p:spPr>
        <p:txBody>
          <a:bodyPr wrap="square" lIns="0" tIns="0" rIns="0" bIns="0" rtlCol="0" anchor="ctr"/>
          <a:lstStyle/>
          <a:p>
            <a:pPr algn="r" indent="0" marL="0">
              <a:buNone/>
            </a:pPr>
            <a:r>
              <a:rPr lang="en-US" sz="20000" b="1" dirty="0">
                <a:solidFill>
                  <a:srgbClr val="16202F"/>
                </a:solidFill>
                <a:latin typeface="Arial" pitchFamily="34" charset="0"/>
                <a:ea typeface="Arial" pitchFamily="34" charset="-122"/>
                <a:cs typeface="Arial" pitchFamily="34" charset="-120"/>
              </a:rPr>
              <a:t>RAG</a:t>
            </a:r>
            <a:endParaRPr lang="en-US" sz="20000" dirty="0"/>
          </a:p>
        </p:txBody>
      </p:sp>
      <p:sp>
        <p:nvSpPr>
          <p:cNvPr id="3" name="Text 1"/>
          <p:cNvSpPr/>
          <p:nvPr/>
        </p:nvSpPr>
        <p:spPr>
          <a:xfrm>
            <a:off x="640080" y="1371600"/>
            <a:ext cx="7315200" cy="365760"/>
          </a:xfrm>
          <a:prstGeom prst="rect">
            <a:avLst/>
          </a:prstGeom>
          <a:noFill/>
          <a:ln/>
        </p:spPr>
        <p:txBody>
          <a:bodyPr wrap="square" lIns="0" tIns="0" rIns="0" bIns="0" rtlCol="0" anchor="ctr"/>
          <a:lstStyle/>
          <a:p>
            <a:pPr indent="0" marL="0">
              <a:buNone/>
            </a:pPr>
            <a:r>
              <a:rPr lang="en-US" sz="1400" b="1" spc="200" kern="0" dirty="0">
                <a:solidFill>
                  <a:srgbClr val="34D399"/>
                </a:solidFill>
                <a:latin typeface="Courier New" pitchFamily="34" charset="0"/>
                <a:ea typeface="Courier New" pitchFamily="34" charset="-122"/>
                <a:cs typeface="Courier New" pitchFamily="34" charset="-120"/>
              </a:rPr>
              <a:t>// bite-sized session</a:t>
            </a:r>
            <a:endParaRPr lang="en-US" sz="1400" dirty="0"/>
          </a:p>
        </p:txBody>
      </p:sp>
      <p:sp>
        <p:nvSpPr>
          <p:cNvPr id="4" name="Text 2"/>
          <p:cNvSpPr/>
          <p:nvPr/>
        </p:nvSpPr>
        <p:spPr>
          <a:xfrm>
            <a:off x="640080" y="1783080"/>
            <a:ext cx="10607040" cy="1371600"/>
          </a:xfrm>
          <a:prstGeom prst="rect">
            <a:avLst/>
          </a:prstGeom>
          <a:noFill/>
          <a:ln/>
        </p:spPr>
        <p:txBody>
          <a:bodyPr wrap="square" lIns="0" tIns="0" rIns="0" bIns="0" rtlCol="0" anchor="ctr"/>
          <a:lstStyle/>
          <a:p>
            <a:pPr indent="0" marL="0">
              <a:buNone/>
            </a:pPr>
            <a:r>
              <a:rPr lang="en-US" sz="6800" b="1" dirty="0">
                <a:solidFill>
                  <a:srgbClr val="FFFFFF"/>
                </a:solidFill>
                <a:latin typeface="Arial" pitchFamily="34" charset="0"/>
                <a:ea typeface="Arial" pitchFamily="34" charset="-122"/>
                <a:cs typeface="Arial" pitchFamily="34" charset="-120"/>
              </a:rPr>
              <a:t>RAG, Four Ways</a:t>
            </a:r>
            <a:endParaRPr lang="en-US" sz="6800" dirty="0"/>
          </a:p>
        </p:txBody>
      </p:sp>
      <p:sp>
        <p:nvSpPr>
          <p:cNvPr id="5" name="Text 3"/>
          <p:cNvSpPr/>
          <p:nvPr/>
        </p:nvSpPr>
        <p:spPr>
          <a:xfrm>
            <a:off x="640080" y="3063240"/>
            <a:ext cx="10607040" cy="548640"/>
          </a:xfrm>
          <a:prstGeom prst="rect">
            <a:avLst/>
          </a:prstGeom>
          <a:noFill/>
          <a:ln/>
        </p:spPr>
        <p:txBody>
          <a:bodyPr wrap="square" lIns="0" tIns="0" rIns="0" bIns="0" rtlCol="0" anchor="ctr"/>
          <a:lstStyle/>
          <a:p>
            <a:pPr indent="0" marL="0">
              <a:buNone/>
            </a:pPr>
            <a:r>
              <a:rPr lang="en-US" sz="2300" dirty="0">
                <a:solidFill>
                  <a:srgbClr val="CBD5E1"/>
                </a:solidFill>
                <a:latin typeface="Calibri" pitchFamily="34" charset="0"/>
                <a:ea typeface="Calibri" pitchFamily="34" charset="-122"/>
                <a:cs typeface="Calibri" pitchFamily="34" charset="-120"/>
              </a:rPr>
              <a:t>Grounded AI in Java — with </a:t>
            </a:r>
            <a:pPr indent="0" marL="0">
              <a:buNone/>
            </a:pPr>
            <a:r>
              <a:rPr lang="en-US" sz="2300" b="1" dirty="0">
                <a:solidFill>
                  <a:srgbClr val="FF4D6A"/>
                </a:solidFill>
                <a:latin typeface="Calibri" pitchFamily="34" charset="0"/>
                <a:ea typeface="Calibri" pitchFamily="34" charset="-122"/>
                <a:cs typeface="Calibri" pitchFamily="34" charset="-120"/>
              </a:rPr>
              <a:t>Quarkus</a:t>
            </a:r>
            <a:pPr indent="0" marL="0">
              <a:buNone/>
            </a:pPr>
            <a:r>
              <a:rPr lang="en-US" sz="2300" dirty="0">
                <a:solidFill>
                  <a:srgbClr val="8294AE"/>
                </a:solidFill>
                <a:latin typeface="Calibri" pitchFamily="34" charset="0"/>
                <a:ea typeface="Calibri" pitchFamily="34" charset="-122"/>
                <a:cs typeface="Calibri" pitchFamily="34" charset="-120"/>
              </a:rPr>
              <a:t> + </a:t>
            </a:r>
            <a:pPr indent="0" marL="0">
              <a:buNone/>
            </a:pPr>
            <a:r>
              <a:rPr lang="en-US" sz="2300" b="1" dirty="0">
                <a:solidFill>
                  <a:srgbClr val="34D399"/>
                </a:solidFill>
                <a:latin typeface="Calibri" pitchFamily="34" charset="0"/>
                <a:ea typeface="Calibri" pitchFamily="34" charset="-122"/>
                <a:cs typeface="Calibri" pitchFamily="34" charset="-120"/>
              </a:rPr>
              <a:t>LangChain4j</a:t>
            </a:r>
            <a:endParaRPr lang="en-US" sz="2300" dirty="0"/>
          </a:p>
        </p:txBody>
      </p:sp>
      <p:sp>
        <p:nvSpPr>
          <p:cNvPr id="6" name="Text 4"/>
          <p:cNvSpPr/>
          <p:nvPr/>
        </p:nvSpPr>
        <p:spPr>
          <a:xfrm>
            <a:off x="640080" y="3703320"/>
            <a:ext cx="9601200" cy="548640"/>
          </a:xfrm>
          <a:prstGeom prst="rect">
            <a:avLst/>
          </a:prstGeom>
          <a:noFill/>
          <a:ln/>
        </p:spPr>
        <p:txBody>
          <a:bodyPr wrap="square" lIns="0" tIns="0" rIns="0" bIns="0" rtlCol="0" anchor="ctr"/>
          <a:lstStyle/>
          <a:p>
            <a:pPr indent="0" marL="0">
              <a:buNone/>
            </a:pPr>
            <a:r>
              <a:rPr lang="en-US" sz="1500" i="1" dirty="0">
                <a:solidFill>
                  <a:srgbClr val="8294AE"/>
                </a:solidFill>
                <a:latin typeface="Calibri" pitchFamily="34" charset="0"/>
                <a:ea typeface="Calibri" pitchFamily="34" charset="-122"/>
                <a:cs typeface="Calibri" pitchFamily="34" charset="-120"/>
              </a:rPr>
              <a:t>Teaching a language model to stop making things up — without rebuilding your infrastructure.</a:t>
            </a:r>
            <a:endParaRPr lang="en-US" sz="1500" dirty="0"/>
          </a:p>
        </p:txBody>
      </p:sp>
      <p:sp>
        <p:nvSpPr>
          <p:cNvPr id="7" name="Shape 5"/>
          <p:cNvSpPr/>
          <p:nvPr/>
        </p:nvSpPr>
        <p:spPr>
          <a:xfrm>
            <a:off x="640080" y="4892040"/>
            <a:ext cx="2926080" cy="0"/>
          </a:xfrm>
          <a:prstGeom prst="line">
            <a:avLst/>
          </a:prstGeom>
          <a:noFill/>
          <a:ln w="12700">
            <a:solidFill>
              <a:srgbClr val="2B3A52"/>
            </a:solidFill>
            <a:prstDash val="solid"/>
          </a:ln>
        </p:spPr>
      </p:sp>
      <p:sp>
        <p:nvSpPr>
          <p:cNvPr id="8" name="Text 6"/>
          <p:cNvSpPr/>
          <p:nvPr/>
        </p:nvSpPr>
        <p:spPr>
          <a:xfrm>
            <a:off x="640080" y="5029200"/>
            <a:ext cx="82296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Rolf Dobbelaere</a:t>
            </a:r>
            <a:endParaRPr lang="en-US" sz="1600" dirty="0"/>
          </a:p>
          <a:p>
            <a:pPr indent="0" marL="0">
              <a:buNone/>
            </a:pPr>
            <a:r>
              <a:rPr lang="en-US" sz="1300" dirty="0">
                <a:solidFill>
                  <a:srgbClr val="8294AE"/>
                </a:solidFill>
                <a:latin typeface="Calibri" pitchFamily="34" charset="0"/>
                <a:ea typeface="Calibri" pitchFamily="34" charset="-122"/>
                <a:cs typeface="Calibri" pitchFamily="34" charset="-120"/>
              </a:rPr>
              <a:t>~30 minutes · one live demo · zero containers</a:t>
            </a:r>
            <a:endParaRPr lang="en-US" sz="1600" dirty="0"/>
          </a:p>
        </p:txBody>
      </p:sp>
      <p:sp>
        <p:nvSpPr>
          <p:cNvPr id="9" name="Shape 7"/>
          <p:cNvSpPr/>
          <p:nvPr/>
        </p:nvSpPr>
        <p:spPr>
          <a:xfrm>
            <a:off x="10180015" y="4892040"/>
            <a:ext cx="1371600" cy="1371600"/>
          </a:xfrm>
          <a:prstGeom prst="ellipse">
            <a:avLst/>
          </a:prstGeom>
          <a:solidFill>
            <a:srgbClr val="34D399"/>
          </a:solidFill>
          <a:ln w="12700">
            <a:solidFill>
              <a:srgbClr val="2B3A52"/>
            </a:solidFill>
            <a:prstDash val="solid"/>
          </a:ln>
        </p:spPr>
      </p:sp>
      <p:pic>
        <p:nvPicPr>
          <p:cNvPr id="10" name="Image 0" descr="preencoded.png">    </p:cNvPr>
          <p:cNvPicPr>
            <a:picLocks noChangeAspect="1"/>
          </p:cNvPicPr>
          <p:nvPr/>
        </p:nvPicPr>
        <p:blipFill>
          <a:blip r:embed="rId1"/>
          <a:stretch>
            <a:fillRect/>
          </a:stretch>
        </p:blipFill>
        <p:spPr>
          <a:xfrm>
            <a:off x="10564063" y="5276088"/>
            <a:ext cx="603504" cy="603504"/>
          </a:xfrm>
          <a:prstGeom prst="rect">
            <a:avLst/>
          </a:prstGeom>
        </p:spPr>
      </p:pic>
      <p:sp>
        <p:nvSpPr>
          <p:cNvPr id="12" name="Text 8"/>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13" name="Text 9"/>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F4D6A"/>
                </a:solidFill>
                <a:latin typeface="Courier New" pitchFamily="34" charset="0"/>
                <a:ea typeface="Courier New" pitchFamily="34" charset="-122"/>
                <a:cs typeface="Courier New" pitchFamily="34" charset="-120"/>
              </a:rPr>
              <a:t>// the setup</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Nobody's been asking for another Java framework</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02</a:t>
            </a:r>
            <a:endParaRPr lang="en-US" sz="4000" dirty="0"/>
          </a:p>
        </p:txBody>
      </p:sp>
      <p:sp>
        <p:nvSpPr>
          <p:cNvPr id="5" name="Text 3"/>
          <p:cNvSpPr/>
          <p:nvPr/>
        </p:nvSpPr>
        <p:spPr>
          <a:xfrm>
            <a:off x="640080" y="1591056"/>
            <a:ext cx="10424160" cy="457200"/>
          </a:xfrm>
          <a:prstGeom prst="rect">
            <a:avLst/>
          </a:prstGeom>
          <a:noFill/>
          <a:ln/>
        </p:spPr>
        <p:txBody>
          <a:bodyPr wrap="square" lIns="0" tIns="0" rIns="0" bIns="0" rtlCol="0" anchor="ctr"/>
          <a:lstStyle/>
          <a:p>
            <a:pPr indent="0" marL="0">
              <a:buNone/>
            </a:pPr>
            <a:r>
              <a:rPr lang="en-US" sz="1500" i="1" dirty="0">
                <a:solidFill>
                  <a:srgbClr val="8294AE"/>
                </a:solidFill>
                <a:latin typeface="Calibri" pitchFamily="34" charset="0"/>
                <a:ea typeface="Calibri" pitchFamily="34" charset="-122"/>
                <a:cs typeface="Calibri" pitchFamily="34" charset="-120"/>
              </a:rPr>
              <a:t>And yet, here we are. Let me explain why this one earns the slot.</a:t>
            </a:r>
            <a:endParaRPr lang="en-US" sz="1500" dirty="0"/>
          </a:p>
        </p:txBody>
      </p:sp>
      <p:sp>
        <p:nvSpPr>
          <p:cNvPr id="6" name="Shape 4"/>
          <p:cNvSpPr/>
          <p:nvPr/>
        </p:nvSpPr>
        <p:spPr>
          <a:xfrm>
            <a:off x="640080" y="2331720"/>
            <a:ext cx="3393338" cy="3383280"/>
          </a:xfrm>
          <a:prstGeom prst="roundRect">
            <a:avLst>
              <a:gd name="adj" fmla="val 243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7" name="Shape 5"/>
          <p:cNvSpPr/>
          <p:nvPr/>
        </p:nvSpPr>
        <p:spPr>
          <a:xfrm>
            <a:off x="914400" y="2651760"/>
            <a:ext cx="868680" cy="868680"/>
          </a:xfrm>
          <a:prstGeom prst="ellipse">
            <a:avLst/>
          </a:prstGeom>
          <a:solidFill>
            <a:srgbClr val="243349"/>
          </a:solidFill>
          <a:ln w="12700">
            <a:solidFill>
              <a:srgbClr val="2B3A52"/>
            </a:solidFill>
            <a:prstDash val="solid"/>
          </a:ln>
        </p:spPr>
      </p:sp>
      <p:pic>
        <p:nvPicPr>
          <p:cNvPr id="8" name="Image 0" descr="preencoded.png">    </p:cNvPr>
          <p:cNvPicPr>
            <a:picLocks noChangeAspect="1"/>
          </p:cNvPicPr>
          <p:nvPr/>
        </p:nvPicPr>
        <p:blipFill>
          <a:blip r:embed="rId1"/>
          <a:stretch>
            <a:fillRect/>
          </a:stretch>
        </p:blipFill>
        <p:spPr>
          <a:xfrm>
            <a:off x="1157630" y="2894990"/>
            <a:ext cx="382219" cy="382219"/>
          </a:xfrm>
          <a:prstGeom prst="rect">
            <a:avLst/>
          </a:prstGeom>
        </p:spPr>
      </p:pic>
      <p:sp>
        <p:nvSpPr>
          <p:cNvPr id="9" name="Text 6"/>
          <p:cNvSpPr/>
          <p:nvPr/>
        </p:nvSpPr>
        <p:spPr>
          <a:xfrm>
            <a:off x="914400" y="3657600"/>
            <a:ext cx="2844698" cy="73152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Python &amp; JS got the demos</a:t>
            </a:r>
            <a:endParaRPr lang="en-US" sz="1700" dirty="0"/>
          </a:p>
        </p:txBody>
      </p:sp>
      <p:sp>
        <p:nvSpPr>
          <p:cNvPr id="10" name="Text 7"/>
          <p:cNvSpPr/>
          <p:nvPr/>
        </p:nvSpPr>
        <p:spPr>
          <a:xfrm>
            <a:off x="914400" y="4434840"/>
            <a:ext cx="2844698" cy="1097280"/>
          </a:xfrm>
          <a:prstGeom prst="rect">
            <a:avLst/>
          </a:prstGeom>
          <a:noFill/>
          <a:ln/>
        </p:spPr>
        <p:txBody>
          <a:bodyPr wrap="square" lIns="0" tIns="0" rIns="0" bIns="0" rtlCol="0" anchor="t"/>
          <a:lstStyle/>
          <a:p>
            <a:pPr algn="l" indent="0" marL="0">
              <a:buNone/>
            </a:pPr>
            <a:r>
              <a:rPr lang="en-US" sz="1350" dirty="0">
                <a:solidFill>
                  <a:srgbClr val="8294AE"/>
                </a:solidFill>
                <a:latin typeface="Calibri" pitchFamily="34" charset="0"/>
                <a:ea typeface="Calibri" pitchFamily="34" charset="-122"/>
                <a:cs typeface="Calibri" pitchFamily="34" charset="-120"/>
              </a:rPr>
              <a:t>Every AI tutorial assumes you enjoy reinstalling CUDA at midnight. The Java ecosystem mostly… held meetings.</a:t>
            </a:r>
            <a:endParaRPr lang="en-US" sz="1350" dirty="0"/>
          </a:p>
        </p:txBody>
      </p:sp>
      <p:sp>
        <p:nvSpPr>
          <p:cNvPr id="11" name="Shape 8"/>
          <p:cNvSpPr/>
          <p:nvPr/>
        </p:nvSpPr>
        <p:spPr>
          <a:xfrm>
            <a:off x="4399178" y="2331720"/>
            <a:ext cx="3393338" cy="3383280"/>
          </a:xfrm>
          <a:prstGeom prst="roundRect">
            <a:avLst>
              <a:gd name="adj" fmla="val 243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2" name="Shape 9"/>
          <p:cNvSpPr/>
          <p:nvPr/>
        </p:nvSpPr>
        <p:spPr>
          <a:xfrm>
            <a:off x="4673498" y="2651760"/>
            <a:ext cx="868680" cy="868680"/>
          </a:xfrm>
          <a:prstGeom prst="ellipse">
            <a:avLst/>
          </a:prstGeom>
          <a:solidFill>
            <a:srgbClr val="243349"/>
          </a:solidFill>
          <a:ln w="12700">
            <a:solidFill>
              <a:srgbClr val="2B3A52"/>
            </a:solidFill>
            <a:prstDash val="solid"/>
          </a:ln>
        </p:spPr>
      </p:sp>
      <p:pic>
        <p:nvPicPr>
          <p:cNvPr id="13" name="Image 1" descr="preencoded.png">    </p:cNvPr>
          <p:cNvPicPr>
            <a:picLocks noChangeAspect="1"/>
          </p:cNvPicPr>
          <p:nvPr/>
        </p:nvPicPr>
        <p:blipFill>
          <a:blip r:embed="rId2"/>
          <a:stretch>
            <a:fillRect/>
          </a:stretch>
        </p:blipFill>
        <p:spPr>
          <a:xfrm>
            <a:off x="4916729" y="2894990"/>
            <a:ext cx="382219" cy="382219"/>
          </a:xfrm>
          <a:prstGeom prst="rect">
            <a:avLst/>
          </a:prstGeom>
        </p:spPr>
      </p:pic>
      <p:sp>
        <p:nvSpPr>
          <p:cNvPr id="14" name="Text 10"/>
          <p:cNvSpPr/>
          <p:nvPr/>
        </p:nvSpPr>
        <p:spPr>
          <a:xfrm>
            <a:off x="4673498" y="3657600"/>
            <a:ext cx="2844698" cy="73152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Your data didn't move</a:t>
            </a:r>
            <a:endParaRPr lang="en-US" sz="1700" dirty="0"/>
          </a:p>
        </p:txBody>
      </p:sp>
      <p:sp>
        <p:nvSpPr>
          <p:cNvPr id="15" name="Text 11"/>
          <p:cNvSpPr/>
          <p:nvPr/>
        </p:nvSpPr>
        <p:spPr>
          <a:xfrm>
            <a:off x="4673498" y="4434840"/>
            <a:ext cx="2844698" cy="1097280"/>
          </a:xfrm>
          <a:prstGeom prst="rect">
            <a:avLst/>
          </a:prstGeom>
          <a:noFill/>
          <a:ln/>
        </p:spPr>
        <p:txBody>
          <a:bodyPr wrap="square" lIns="0" tIns="0" rIns="0" bIns="0" rtlCol="0" anchor="t"/>
          <a:lstStyle/>
          <a:p>
            <a:pPr algn="l" indent="0" marL="0">
              <a:buNone/>
            </a:pPr>
            <a:r>
              <a:rPr lang="en-US" sz="1350" dirty="0">
                <a:solidFill>
                  <a:srgbClr val="8294AE"/>
                </a:solidFill>
                <a:latin typeface="Calibri" pitchFamily="34" charset="0"/>
                <a:ea typeface="Calibri" pitchFamily="34" charset="-122"/>
                <a:cs typeface="Calibri" pitchFamily="34" charset="-120"/>
              </a:rPr>
              <a:t>It's still in the same databases, behind the same firewall, watched by the same APM agent it was last year.</a:t>
            </a:r>
            <a:endParaRPr lang="en-US" sz="1350" dirty="0"/>
          </a:p>
        </p:txBody>
      </p:sp>
      <p:sp>
        <p:nvSpPr>
          <p:cNvPr id="16" name="Shape 12"/>
          <p:cNvSpPr/>
          <p:nvPr/>
        </p:nvSpPr>
        <p:spPr>
          <a:xfrm>
            <a:off x="8158277" y="2331720"/>
            <a:ext cx="3393338" cy="3383280"/>
          </a:xfrm>
          <a:prstGeom prst="roundRect">
            <a:avLst>
              <a:gd name="adj" fmla="val 243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7" name="Shape 13"/>
          <p:cNvSpPr/>
          <p:nvPr/>
        </p:nvSpPr>
        <p:spPr>
          <a:xfrm>
            <a:off x="8432597" y="2651760"/>
            <a:ext cx="868680" cy="868680"/>
          </a:xfrm>
          <a:prstGeom prst="ellipse">
            <a:avLst/>
          </a:prstGeom>
          <a:solidFill>
            <a:srgbClr val="243349"/>
          </a:solidFill>
          <a:ln w="12700">
            <a:solidFill>
              <a:srgbClr val="2B3A52"/>
            </a:solidFill>
            <a:prstDash val="solid"/>
          </a:ln>
        </p:spPr>
      </p:sp>
      <p:pic>
        <p:nvPicPr>
          <p:cNvPr id="18" name="Image 2" descr="preencoded.png">    </p:cNvPr>
          <p:cNvPicPr>
            <a:picLocks noChangeAspect="1"/>
          </p:cNvPicPr>
          <p:nvPr/>
        </p:nvPicPr>
        <p:blipFill>
          <a:blip r:embed="rId3"/>
          <a:stretch>
            <a:fillRect/>
          </a:stretch>
        </p:blipFill>
        <p:spPr>
          <a:xfrm>
            <a:off x="8675827" y="2894990"/>
            <a:ext cx="382219" cy="382219"/>
          </a:xfrm>
          <a:prstGeom prst="rect">
            <a:avLst/>
          </a:prstGeom>
        </p:spPr>
      </p:pic>
      <p:sp>
        <p:nvSpPr>
          <p:cNvPr id="19" name="Text 14"/>
          <p:cNvSpPr/>
          <p:nvPr/>
        </p:nvSpPr>
        <p:spPr>
          <a:xfrm>
            <a:off x="8432597" y="3657600"/>
            <a:ext cx="2844698" cy="73152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The gap is just plumbing</a:t>
            </a:r>
            <a:endParaRPr lang="en-US" sz="1700" dirty="0"/>
          </a:p>
        </p:txBody>
      </p:sp>
      <p:sp>
        <p:nvSpPr>
          <p:cNvPr id="20" name="Text 15"/>
          <p:cNvSpPr/>
          <p:nvPr/>
        </p:nvSpPr>
        <p:spPr>
          <a:xfrm>
            <a:off x="8432597" y="4434840"/>
            <a:ext cx="2844698" cy="1097280"/>
          </a:xfrm>
          <a:prstGeom prst="rect">
            <a:avLst/>
          </a:prstGeom>
          <a:noFill/>
          <a:ln/>
        </p:spPr>
        <p:txBody>
          <a:bodyPr wrap="square" lIns="0" tIns="0" rIns="0" bIns="0" rtlCol="0" anchor="t"/>
          <a:lstStyle/>
          <a:p>
            <a:pPr algn="l" indent="0" marL="0">
              <a:buNone/>
            </a:pPr>
            <a:r>
              <a:rPr lang="en-US" sz="1350" dirty="0">
                <a:solidFill>
                  <a:srgbClr val="8294AE"/>
                </a:solidFill>
                <a:latin typeface="Calibri" pitchFamily="34" charset="0"/>
                <a:ea typeface="Calibri" pitchFamily="34" charset="-122"/>
                <a:cs typeface="Calibri" pitchFamily="34" charset="-120"/>
              </a:rPr>
              <a:t>Connecting a model to that data is an integration problem. Java has been doing integration problems for 25 years.</a:t>
            </a:r>
            <a:endParaRPr lang="en-US" sz="1350" dirty="0"/>
          </a:p>
        </p:txBody>
      </p:sp>
      <p:sp>
        <p:nvSpPr>
          <p:cNvPr id="22" name="Text 16"/>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3" name="Text 17"/>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F4D6A"/>
                </a:solidFill>
                <a:latin typeface="Courier New" pitchFamily="34" charset="0"/>
                <a:ea typeface="Courier New" pitchFamily="34" charset="-122"/>
                <a:cs typeface="Courier New" pitchFamily="34" charset="-120"/>
              </a:rPr>
              <a:t>// the problem</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A language model would rather guess than admit it doesn't know</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03</a:t>
            </a:r>
            <a:endParaRPr lang="en-US" sz="4000" dirty="0"/>
          </a:p>
        </p:txBody>
      </p:sp>
      <p:sp>
        <p:nvSpPr>
          <p:cNvPr id="5" name="Shape 3"/>
          <p:cNvSpPr/>
          <p:nvPr/>
        </p:nvSpPr>
        <p:spPr>
          <a:xfrm>
            <a:off x="640080" y="2286000"/>
            <a:ext cx="5577840" cy="3566160"/>
          </a:xfrm>
          <a:prstGeom prst="roundRect">
            <a:avLst>
              <a:gd name="adj" fmla="val 2308"/>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Text 4"/>
          <p:cNvSpPr/>
          <p:nvPr/>
        </p:nvSpPr>
        <p:spPr>
          <a:xfrm>
            <a:off x="640080" y="2286000"/>
            <a:ext cx="914400" cy="91440"/>
          </a:xfrm>
          <a:prstGeom prst="rect">
            <a:avLst/>
          </a:prstGeom>
          <a:noFill/>
          <a:ln/>
        </p:spPr>
        <p:txBody>
          <a:bodyPr wrap="square" rtlCol="0" anchor="ctr"/>
          <a:lstStyle/>
          <a:p>
            <a:pPr indent="0" marL="0">
              <a:buNone/>
            </a:pPr>
            <a:r>
              <a:rPr lang="en-US" dirty="0">
                <a:solidFill>
                  <a:srgbClr val="000000"/>
                </a:solidFill>
              </a:rPr>
              <a:t>  </a:t>
            </a:r>
            <a:endParaRPr lang="en-US" dirty="0"/>
          </a:p>
        </p:txBody>
      </p:sp>
      <p:sp>
        <p:nvSpPr>
          <p:cNvPr id="7" name="Shape 5"/>
          <p:cNvSpPr/>
          <p:nvPr/>
        </p:nvSpPr>
        <p:spPr>
          <a:xfrm>
            <a:off x="914400" y="2560320"/>
            <a:ext cx="640080" cy="640080"/>
          </a:xfrm>
          <a:prstGeom prst="ellipse">
            <a:avLst/>
          </a:prstGeom>
          <a:solidFill>
            <a:srgbClr val="243349"/>
          </a:solidFill>
          <a:ln w="12700">
            <a:solidFill>
              <a:srgbClr val="2B3A52"/>
            </a:solidFill>
            <a:prstDash val="solid"/>
          </a:ln>
        </p:spPr>
      </p:sp>
      <p:pic>
        <p:nvPicPr>
          <p:cNvPr id="8" name="Image 0" descr="preencoded.png">    </p:cNvPr>
          <p:cNvPicPr>
            <a:picLocks noChangeAspect="1"/>
          </p:cNvPicPr>
          <p:nvPr/>
        </p:nvPicPr>
        <p:blipFill>
          <a:blip r:embed="rId1"/>
          <a:stretch>
            <a:fillRect/>
          </a:stretch>
        </p:blipFill>
        <p:spPr>
          <a:xfrm>
            <a:off x="1093622" y="2739542"/>
            <a:ext cx="281635" cy="281635"/>
          </a:xfrm>
          <a:prstGeom prst="rect">
            <a:avLst/>
          </a:prstGeom>
        </p:spPr>
      </p:pic>
      <p:sp>
        <p:nvSpPr>
          <p:cNvPr id="9" name="Text 6"/>
          <p:cNvSpPr/>
          <p:nvPr/>
        </p:nvSpPr>
        <p:spPr>
          <a:xfrm>
            <a:off x="1691640" y="2560320"/>
            <a:ext cx="4297680" cy="640080"/>
          </a:xfrm>
          <a:prstGeom prst="rect">
            <a:avLst/>
          </a:prstGeom>
          <a:noFill/>
          <a:ln/>
        </p:spPr>
        <p:txBody>
          <a:bodyPr wrap="square" lIns="0" tIns="0" rIns="0" bIns="0" rtlCol="0" anchor="ctr"/>
          <a:lstStyle/>
          <a:p>
            <a:pPr algn="l" indent="0" marL="0">
              <a:buNone/>
            </a:pPr>
            <a:r>
              <a:rPr lang="en-US" sz="1300" b="1" dirty="0">
                <a:solidFill>
                  <a:srgbClr val="FF4D6A"/>
                </a:solidFill>
                <a:latin typeface="Calibri" pitchFamily="34" charset="0"/>
                <a:ea typeface="Calibri" pitchFamily="34" charset="-122"/>
                <a:cs typeface="Calibri" pitchFamily="34" charset="-120"/>
              </a:rPr>
              <a:t>Plain LLM · no retrieval</a:t>
            </a:r>
            <a:endParaRPr lang="en-US" sz="1300" dirty="0"/>
          </a:p>
        </p:txBody>
      </p:sp>
      <p:sp>
        <p:nvSpPr>
          <p:cNvPr id="10" name="Shape 7"/>
          <p:cNvSpPr/>
          <p:nvPr/>
        </p:nvSpPr>
        <p:spPr>
          <a:xfrm>
            <a:off x="2377440" y="3383280"/>
            <a:ext cx="3566160" cy="548640"/>
          </a:xfrm>
          <a:prstGeom prst="roundRect">
            <a:avLst>
              <a:gd name="adj" fmla="val 13333"/>
            </a:avLst>
          </a:prstGeom>
          <a:solidFill>
            <a:srgbClr val="243349"/>
          </a:solidFill>
          <a:ln/>
        </p:spPr>
      </p:sp>
      <p:sp>
        <p:nvSpPr>
          <p:cNvPr id="11" name="Text 8"/>
          <p:cNvSpPr/>
          <p:nvPr/>
        </p:nvSpPr>
        <p:spPr>
          <a:xfrm>
            <a:off x="2468880" y="3383280"/>
            <a:ext cx="3383280" cy="548640"/>
          </a:xfrm>
          <a:prstGeom prst="rect">
            <a:avLst/>
          </a:prstGeom>
          <a:noFill/>
          <a:ln/>
        </p:spPr>
        <p:txBody>
          <a:bodyPr wrap="square" lIns="0" tIns="0" rIns="0" bIns="0" rtlCol="0" anchor="ctr"/>
          <a:lstStyle/>
          <a:p>
            <a:pPr algn="l" indent="0" marL="0">
              <a:buNone/>
            </a:pPr>
            <a:r>
              <a:rPr lang="en-US" sz="1250" dirty="0">
                <a:solidFill>
                  <a:srgbClr val="CBD5E1"/>
                </a:solidFill>
                <a:latin typeface="Calibri" pitchFamily="34" charset="0"/>
                <a:ea typeface="Calibri" pitchFamily="34" charset="-122"/>
                <a:cs typeface="Calibri" pitchFamily="34" charset="-120"/>
              </a:rPr>
              <a:t>“What did our June 2026 newsletter announce?”</a:t>
            </a:r>
            <a:endParaRPr lang="en-US" sz="1250" dirty="0"/>
          </a:p>
        </p:txBody>
      </p:sp>
      <p:sp>
        <p:nvSpPr>
          <p:cNvPr id="12" name="Shape 9"/>
          <p:cNvSpPr/>
          <p:nvPr/>
        </p:nvSpPr>
        <p:spPr>
          <a:xfrm>
            <a:off x="914400" y="4114800"/>
            <a:ext cx="3566160" cy="1463040"/>
          </a:xfrm>
          <a:prstGeom prst="roundRect">
            <a:avLst>
              <a:gd name="adj" fmla="val 5000"/>
            </a:avLst>
          </a:prstGeom>
          <a:solidFill>
            <a:srgbClr val="2A1822"/>
          </a:solidFill>
          <a:ln w="12700">
            <a:solidFill>
              <a:srgbClr val="FF4D6A"/>
            </a:solidFill>
            <a:prstDash val="solid"/>
          </a:ln>
        </p:spPr>
      </p:sp>
      <p:sp>
        <p:nvSpPr>
          <p:cNvPr id="13" name="Text 10"/>
          <p:cNvSpPr/>
          <p:nvPr/>
        </p:nvSpPr>
        <p:spPr>
          <a:xfrm>
            <a:off x="1097280" y="4251960"/>
            <a:ext cx="3246120" cy="1188720"/>
          </a:xfrm>
          <a:prstGeom prst="rect">
            <a:avLst/>
          </a:prstGeom>
          <a:noFill/>
          <a:ln/>
        </p:spPr>
        <p:txBody>
          <a:bodyPr wrap="square" lIns="0" tIns="0" rIns="0" bIns="0" rtlCol="0" anchor="ctr"/>
          <a:lstStyle/>
          <a:p>
            <a:pPr algn="l" indent="0" marL="0">
              <a:buNone/>
            </a:pPr>
            <a:r>
              <a:rPr lang="en-US" sz="1300" dirty="0">
                <a:solidFill>
                  <a:srgbClr val="CBD5E1"/>
                </a:solidFill>
                <a:latin typeface="Calibri" pitchFamily="34" charset="0"/>
                <a:ea typeface="Calibri" pitchFamily="34" charset="-122"/>
                <a:cs typeface="Calibri" pitchFamily="34" charset="-120"/>
              </a:rPr>
              <a:t>“Your June 2026 newsletter unveiled the </a:t>
            </a:r>
            <a:pPr algn="l" indent="0" marL="0">
              <a:buNone/>
            </a:pPr>
            <a:r>
              <a:rPr lang="en-US" sz="1300" b="1" dirty="0">
                <a:solidFill>
                  <a:srgbClr val="FF4D6A"/>
                </a:solidFill>
                <a:latin typeface="Calibri" pitchFamily="34" charset="0"/>
                <a:ea typeface="Calibri" pitchFamily="34" charset="-122"/>
                <a:cs typeface="Calibri" pitchFamily="34" charset="-120"/>
              </a:rPr>
              <a:t>Q3 Synergy Initiative</a:t>
            </a:r>
            <a:pPr algn="l" indent="0" marL="0">
              <a:buNone/>
            </a:pPr>
            <a:r>
              <a:rPr lang="en-US" sz="1300" dirty="0">
                <a:solidFill>
                  <a:srgbClr val="CBD5E1"/>
                </a:solidFill>
                <a:latin typeface="Calibri" pitchFamily="34" charset="0"/>
                <a:ea typeface="Calibri" pitchFamily="34" charset="-122"/>
                <a:cs typeface="Calibri" pitchFamily="34" charset="-120"/>
              </a:rPr>
              <a:t> and a new </a:t>
            </a:r>
            <a:pPr algn="l" indent="0" marL="0">
              <a:buNone/>
            </a:pPr>
            <a:r>
              <a:rPr lang="en-US" sz="1300" b="1" dirty="0">
                <a:solidFill>
                  <a:srgbClr val="FF4D6A"/>
                </a:solidFill>
                <a:latin typeface="Calibri" pitchFamily="34" charset="0"/>
                <a:ea typeface="Calibri" pitchFamily="34" charset="-122"/>
                <a:cs typeface="Calibri" pitchFamily="34" charset="-120"/>
              </a:rPr>
              <a:t>Lisbon office</a:t>
            </a:r>
            <a:pPr algn="l" indent="0" marL="0">
              <a:buNone/>
            </a:pPr>
            <a:r>
              <a:rPr lang="en-US" sz="1300" dirty="0">
                <a:solidFill>
                  <a:srgbClr val="CBD5E1"/>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914400" y="5532120"/>
            <a:ext cx="5029200" cy="274320"/>
          </a:xfrm>
          <a:prstGeom prst="rect">
            <a:avLst/>
          </a:prstGeom>
          <a:noFill/>
          <a:ln/>
        </p:spPr>
        <p:txBody>
          <a:bodyPr wrap="square" lIns="0" tIns="0" rIns="0" bIns="0" rtlCol="0" anchor="ctr"/>
          <a:lstStyle/>
          <a:p>
            <a:pPr algn="l" indent="0" marL="0">
              <a:buNone/>
            </a:pPr>
            <a:r>
              <a:rPr lang="en-US" sz="1150" i="1" dirty="0">
                <a:solidFill>
                  <a:srgbClr val="FF4D6A"/>
                </a:solidFill>
                <a:latin typeface="Calibri" pitchFamily="34" charset="0"/>
                <a:ea typeface="Calibri" pitchFamily="34" charset="-122"/>
                <a:cs typeface="Calibri" pitchFamily="34" charset="-120"/>
              </a:rPr>
              <a:t>None of that exists. It made it up — fluently.</a:t>
            </a:r>
            <a:endParaRPr lang="en-US" sz="1150" dirty="0"/>
          </a:p>
        </p:txBody>
      </p:sp>
      <p:sp>
        <p:nvSpPr>
          <p:cNvPr id="15" name="Text 12"/>
          <p:cNvSpPr/>
          <p:nvPr/>
        </p:nvSpPr>
        <p:spPr>
          <a:xfrm>
            <a:off x="6675120" y="2423160"/>
            <a:ext cx="4876495" cy="457200"/>
          </a:xfrm>
          <a:prstGeom prst="rect">
            <a:avLst/>
          </a:prstGeom>
          <a:noFill/>
          <a:ln/>
        </p:spPr>
        <p:txBody>
          <a:bodyPr wrap="square" lIns="0" tIns="0" rIns="0" bIns="0" rtlCol="0" anchor="t"/>
          <a:lstStyle/>
          <a:p>
            <a:pPr algn="l" indent="0" marL="0">
              <a:buNone/>
            </a:pPr>
            <a:r>
              <a:rPr lang="en-US" sz="1900" b="1" dirty="0">
                <a:solidFill>
                  <a:srgbClr val="FFFFFF"/>
                </a:solidFill>
                <a:latin typeface="Arial" pitchFamily="34" charset="0"/>
                <a:ea typeface="Arial" pitchFamily="34" charset="-122"/>
                <a:cs typeface="Arial" pitchFamily="34" charset="-120"/>
              </a:rPr>
              <a:t>Why this is a production problem</a:t>
            </a:r>
            <a:endParaRPr lang="en-US" sz="1900" dirty="0"/>
          </a:p>
        </p:txBody>
      </p:sp>
      <p:sp>
        <p:nvSpPr>
          <p:cNvPr id="16" name="Text 13"/>
          <p:cNvSpPr/>
          <p:nvPr/>
        </p:nvSpPr>
        <p:spPr>
          <a:xfrm>
            <a:off x="6675120" y="3017520"/>
            <a:ext cx="4876495" cy="1828800"/>
          </a:xfrm>
          <a:prstGeom prst="rect">
            <a:avLst/>
          </a:prstGeom>
          <a:noFill/>
          <a:ln/>
        </p:spPr>
        <p:txBody>
          <a:bodyPr wrap="square" lIns="0" tIns="0" rIns="0" bIns="0" rtlCol="0" anchor="t"/>
          <a:lstStyle/>
          <a:p>
            <a:pPr algn="l" marL="228600" indent="-228600">
              <a:spcAft>
                <a:spcPts val="1200"/>
              </a:spcAft>
              <a:buSzPct val="100000"/>
              <a:buChar char="•"/>
            </a:pPr>
            <a:r>
              <a:rPr lang="en-US" sz="1450" dirty="0">
                <a:solidFill>
                  <a:srgbClr val="CBD5E1"/>
                </a:solidFill>
                <a:latin typeface="Calibri" pitchFamily="34" charset="0"/>
                <a:ea typeface="Calibri" pitchFamily="34" charset="-122"/>
                <a:cs typeface="Calibri" pitchFamily="34" charset="-120"/>
              </a:rPr>
              <a:t>It has a training cut-off and never saw your internal data.</a:t>
            </a:r>
            <a:endParaRPr lang="en-US" sz="1450" dirty="0"/>
          </a:p>
          <a:p>
            <a:pPr algn="l" marL="228600" indent="-228600">
              <a:spcAft>
                <a:spcPts val="1200"/>
              </a:spcAft>
              <a:buSzPct val="100000"/>
              <a:buChar char="•"/>
            </a:pPr>
            <a:r>
              <a:rPr lang="en-US" sz="1450" dirty="0">
                <a:solidFill>
                  <a:srgbClr val="CBD5E1"/>
                </a:solidFill>
                <a:latin typeface="Calibri" pitchFamily="34" charset="0"/>
                <a:ea typeface="Calibri" pitchFamily="34" charset="-122"/>
                <a:cs typeface="Calibri" pitchFamily="34" charset="-120"/>
              </a:rPr>
              <a:t>It cannot say “I don't know” — fluency is not knowledge.</a:t>
            </a:r>
            <a:endParaRPr lang="en-US" sz="1450" dirty="0"/>
          </a:p>
          <a:p>
            <a:pPr algn="l" marL="228600" indent="-228600">
              <a:spcAft>
                <a:spcPts val="1200"/>
              </a:spcAft>
              <a:buSzPct val="100000"/>
              <a:buChar char="•"/>
            </a:pPr>
            <a:r>
              <a:rPr lang="en-US" sz="1450" dirty="0">
                <a:solidFill>
                  <a:srgbClr val="CBD5E1"/>
                </a:solidFill>
                <a:latin typeface="Calibri" pitchFamily="34" charset="0"/>
                <a:ea typeface="Calibri" pitchFamily="34" charset="-122"/>
                <a:cs typeface="Calibri" pitchFamily="34" charset="-120"/>
              </a:rPr>
              <a:t>A support bot inventing a refund policy is a brand incident, not a cute bug.</a:t>
            </a:r>
            <a:endParaRPr lang="en-US" sz="1450" dirty="0"/>
          </a:p>
        </p:txBody>
      </p:sp>
      <p:sp>
        <p:nvSpPr>
          <p:cNvPr id="17" name="Shape 14"/>
          <p:cNvSpPr/>
          <p:nvPr/>
        </p:nvSpPr>
        <p:spPr>
          <a:xfrm>
            <a:off x="6675120" y="5074920"/>
            <a:ext cx="4876495" cy="777240"/>
          </a:xfrm>
          <a:prstGeom prst="roundRect">
            <a:avLst>
              <a:gd name="adj" fmla="val 9412"/>
            </a:avLst>
          </a:prstGeom>
          <a:solidFill>
            <a:srgbClr val="16202F"/>
          </a:solidFill>
          <a:ln w="12700">
            <a:solidFill>
              <a:srgbClr val="34D399"/>
            </a:solidFill>
            <a:prstDash val="solid"/>
          </a:ln>
        </p:spPr>
      </p:sp>
      <p:sp>
        <p:nvSpPr>
          <p:cNvPr id="18" name="Text 15"/>
          <p:cNvSpPr/>
          <p:nvPr/>
        </p:nvSpPr>
        <p:spPr>
          <a:xfrm>
            <a:off x="6903720" y="5074920"/>
            <a:ext cx="4419295" cy="777240"/>
          </a:xfrm>
          <a:prstGeom prst="rect">
            <a:avLst/>
          </a:prstGeom>
          <a:noFill/>
          <a:ln/>
        </p:spPr>
        <p:txBody>
          <a:bodyPr wrap="square" lIns="0" tIns="0" rIns="0" bIns="0" rtlCol="0" anchor="ctr"/>
          <a:lstStyle/>
          <a:p>
            <a:pPr algn="l" indent="0" marL="0">
              <a:buNone/>
            </a:pPr>
            <a:r>
              <a:rPr lang="en-US" sz="1400" dirty="0">
                <a:solidFill>
                  <a:srgbClr val="8294AE"/>
                </a:solidFill>
                <a:latin typeface="Calibri" pitchFamily="34" charset="0"/>
                <a:ea typeface="Calibri" pitchFamily="34" charset="-122"/>
                <a:cs typeface="Calibri" pitchFamily="34" charset="-120"/>
              </a:rPr>
              <a:t>The fix isn't a smarter model. </a:t>
            </a:r>
            <a:pPr algn="l" indent="0" marL="0">
              <a:buNone/>
            </a:pPr>
            <a:r>
              <a:rPr lang="en-US" sz="1400" b="1" dirty="0">
                <a:solidFill>
                  <a:srgbClr val="34D399"/>
                </a:solidFill>
                <a:latin typeface="Calibri" pitchFamily="34" charset="0"/>
                <a:ea typeface="Calibri" pitchFamily="34" charset="-122"/>
                <a:cs typeface="Calibri" pitchFamily="34" charset="-120"/>
              </a:rPr>
              <a:t>It's giving this one the answer key.</a:t>
            </a:r>
            <a:endParaRPr lang="en-US" sz="1400" dirty="0"/>
          </a:p>
        </p:txBody>
      </p:sp>
      <p:sp>
        <p:nvSpPr>
          <p:cNvPr id="20" name="Text 16"/>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1" name="Text 17"/>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the idea</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Retrieval-Augmented Generation</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04</a:t>
            </a:r>
            <a:endParaRPr lang="en-US" sz="4000" dirty="0"/>
          </a:p>
        </p:txBody>
      </p:sp>
      <p:sp>
        <p:nvSpPr>
          <p:cNvPr id="5" name="Text 3"/>
          <p:cNvSpPr/>
          <p:nvPr/>
        </p:nvSpPr>
        <p:spPr>
          <a:xfrm>
            <a:off x="640080" y="1591056"/>
            <a:ext cx="10424160" cy="457200"/>
          </a:xfrm>
          <a:prstGeom prst="rect">
            <a:avLst/>
          </a:prstGeom>
          <a:noFill/>
          <a:ln/>
        </p:spPr>
        <p:txBody>
          <a:bodyPr wrap="square" lIns="0" tIns="0" rIns="0" bIns="0" rtlCol="0" anchor="ctr"/>
          <a:lstStyle/>
          <a:p>
            <a:pPr indent="0" marL="0">
              <a:buNone/>
            </a:pPr>
            <a:r>
              <a:rPr lang="en-US" sz="1500" i="1" dirty="0">
                <a:solidFill>
                  <a:srgbClr val="8294AE"/>
                </a:solidFill>
                <a:latin typeface="Calibri" pitchFamily="34" charset="0"/>
                <a:ea typeface="Calibri" pitchFamily="34" charset="-122"/>
                <a:cs typeface="Calibri" pitchFamily="34" charset="-120"/>
              </a:rPr>
              <a:t>Look up the relevant facts first. Then let the model write the answer using them.</a:t>
            </a:r>
            <a:endParaRPr lang="en-US" sz="1500" dirty="0"/>
          </a:p>
        </p:txBody>
      </p:sp>
      <p:sp>
        <p:nvSpPr>
          <p:cNvPr id="6" name="Shape 4"/>
          <p:cNvSpPr/>
          <p:nvPr/>
        </p:nvSpPr>
        <p:spPr>
          <a:xfrm>
            <a:off x="640080" y="2331720"/>
            <a:ext cx="5486400" cy="3383280"/>
          </a:xfrm>
          <a:prstGeom prst="roundRect">
            <a:avLst>
              <a:gd name="adj" fmla="val 243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7" name="Shape 5"/>
          <p:cNvSpPr/>
          <p:nvPr/>
        </p:nvSpPr>
        <p:spPr>
          <a:xfrm>
            <a:off x="960120" y="2651760"/>
            <a:ext cx="914400" cy="914400"/>
          </a:xfrm>
          <a:prstGeom prst="ellipse">
            <a:avLst/>
          </a:prstGeom>
          <a:solidFill>
            <a:srgbClr val="243349"/>
          </a:solidFill>
          <a:ln w="12700">
            <a:solidFill>
              <a:srgbClr val="2B3A52"/>
            </a:solidFill>
            <a:prstDash val="solid"/>
          </a:ln>
        </p:spPr>
      </p:sp>
      <p:pic>
        <p:nvPicPr>
          <p:cNvPr id="8" name="Image 0" descr="preencoded.png">    </p:cNvPr>
          <p:cNvPicPr>
            <a:picLocks noChangeAspect="1"/>
          </p:cNvPicPr>
          <p:nvPr/>
        </p:nvPicPr>
        <p:blipFill>
          <a:blip r:embed="rId1"/>
          <a:stretch>
            <a:fillRect/>
          </a:stretch>
        </p:blipFill>
        <p:spPr>
          <a:xfrm>
            <a:off x="1216152" y="2907792"/>
            <a:ext cx="402336" cy="402336"/>
          </a:xfrm>
          <a:prstGeom prst="rect">
            <a:avLst/>
          </a:prstGeom>
        </p:spPr>
      </p:pic>
      <p:sp>
        <p:nvSpPr>
          <p:cNvPr id="9" name="Text 6"/>
          <p:cNvSpPr/>
          <p:nvPr/>
        </p:nvSpPr>
        <p:spPr>
          <a:xfrm>
            <a:off x="960120" y="3657600"/>
            <a:ext cx="4846320" cy="457200"/>
          </a:xfrm>
          <a:prstGeom prst="rect">
            <a:avLst/>
          </a:prstGeom>
          <a:noFill/>
          <a:ln/>
        </p:spPr>
        <p:txBody>
          <a:bodyPr wrap="square" lIns="0" tIns="0" rIns="0" bIns="0" rtlCol="0" anchor="t"/>
          <a:lstStyle/>
          <a:p>
            <a:pPr algn="l" indent="0" marL="0">
              <a:buNone/>
            </a:pPr>
            <a:r>
              <a:rPr lang="en-US" sz="2000" b="1" dirty="0">
                <a:solidFill>
                  <a:srgbClr val="FFFFFF"/>
                </a:solidFill>
                <a:latin typeface="Arial" pitchFamily="34" charset="0"/>
                <a:ea typeface="Arial" pitchFamily="34" charset="-122"/>
                <a:cs typeface="Arial" pitchFamily="34" charset="-120"/>
              </a:rPr>
              <a:t>The open-book exam</a:t>
            </a:r>
            <a:endParaRPr lang="en-US" sz="2000" dirty="0"/>
          </a:p>
        </p:txBody>
      </p:sp>
      <p:sp>
        <p:nvSpPr>
          <p:cNvPr id="10" name="Text 7"/>
          <p:cNvSpPr/>
          <p:nvPr/>
        </p:nvSpPr>
        <p:spPr>
          <a:xfrm>
            <a:off x="960120" y="4160520"/>
            <a:ext cx="4892040" cy="1371600"/>
          </a:xfrm>
          <a:prstGeom prst="rect">
            <a:avLst/>
          </a:prstGeom>
          <a:noFill/>
          <a:ln/>
        </p:spPr>
        <p:txBody>
          <a:bodyPr wrap="square" lIns="0" tIns="0" rIns="0" bIns="0" rtlCol="0" anchor="t"/>
          <a:lstStyle/>
          <a:p>
            <a:pPr algn="l" indent="0" marL="0">
              <a:buNone/>
            </a:pPr>
            <a:r>
              <a:rPr lang="en-US" sz="1500" dirty="0">
                <a:solidFill>
                  <a:srgbClr val="CBD5E1"/>
                </a:solidFill>
                <a:latin typeface="Calibri" pitchFamily="34" charset="0"/>
                <a:ea typeface="Calibri" pitchFamily="34" charset="-122"/>
                <a:cs typeface="Calibri" pitchFamily="34" charset="-120"/>
              </a:rPr>
              <a:t>A closed-book LLM bluffs from memory. </a:t>
            </a:r>
            <a:pPr algn="l" indent="0" marL="0">
              <a:buNone/>
            </a:pPr>
            <a:r>
              <a:rPr lang="en-US" sz="1500" dirty="0">
                <a:solidFill>
                  <a:srgbClr val="34D399"/>
                </a:solidFill>
                <a:latin typeface="Calibri" pitchFamily="34" charset="0"/>
                <a:ea typeface="Calibri" pitchFamily="34" charset="-122"/>
                <a:cs typeface="Calibri" pitchFamily="34" charset="-120"/>
              </a:rPr>
              <a:t>RAG hands it the page with the answer on it </a:t>
            </a:r>
            <a:pPr algn="l" indent="0" marL="0">
              <a:buNone/>
            </a:pPr>
            <a:r>
              <a:rPr lang="en-US" sz="1500" dirty="0">
                <a:solidFill>
                  <a:srgbClr val="CBD5E1"/>
                </a:solidFill>
                <a:latin typeface="Calibri" pitchFamily="34" charset="0"/>
                <a:ea typeface="Calibri" pitchFamily="34" charset="-122"/>
                <a:cs typeface="Calibri" pitchFamily="34" charset="-120"/>
              </a:rPr>
              <a:t>before it starts writing. Same model — now it's quoting, not guessing.</a:t>
            </a:r>
            <a:endParaRPr lang="en-US" sz="1500" dirty="0"/>
          </a:p>
        </p:txBody>
      </p:sp>
      <p:sp>
        <p:nvSpPr>
          <p:cNvPr id="11" name="Shape 8"/>
          <p:cNvSpPr/>
          <p:nvPr/>
        </p:nvSpPr>
        <p:spPr>
          <a:xfrm>
            <a:off x="6583680" y="2331720"/>
            <a:ext cx="4967935" cy="1024128"/>
          </a:xfrm>
          <a:prstGeom prst="roundRect">
            <a:avLst>
              <a:gd name="adj" fmla="val 7143"/>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2" name="Shape 9"/>
          <p:cNvSpPr/>
          <p:nvPr/>
        </p:nvSpPr>
        <p:spPr>
          <a:xfrm>
            <a:off x="6812280" y="2615184"/>
            <a:ext cx="457200" cy="457200"/>
          </a:xfrm>
          <a:prstGeom prst="ellipse">
            <a:avLst/>
          </a:prstGeom>
          <a:solidFill>
            <a:srgbClr val="34D399"/>
          </a:solidFill>
          <a:ln/>
        </p:spPr>
      </p:sp>
      <p:sp>
        <p:nvSpPr>
          <p:cNvPr id="13" name="Text 10"/>
          <p:cNvSpPr/>
          <p:nvPr/>
        </p:nvSpPr>
        <p:spPr>
          <a:xfrm>
            <a:off x="6812280" y="2615184"/>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R</a:t>
            </a:r>
            <a:endParaRPr lang="en-US" sz="1800" dirty="0"/>
          </a:p>
        </p:txBody>
      </p:sp>
      <p:sp>
        <p:nvSpPr>
          <p:cNvPr id="14" name="Text 11"/>
          <p:cNvSpPr/>
          <p:nvPr/>
        </p:nvSpPr>
        <p:spPr>
          <a:xfrm>
            <a:off x="7452360" y="2478024"/>
            <a:ext cx="3962095"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Retrieve</a:t>
            </a:r>
            <a:endParaRPr lang="en-US" sz="1600" dirty="0"/>
          </a:p>
        </p:txBody>
      </p:sp>
      <p:sp>
        <p:nvSpPr>
          <p:cNvPr id="15" name="Text 12"/>
          <p:cNvSpPr/>
          <p:nvPr/>
        </p:nvSpPr>
        <p:spPr>
          <a:xfrm>
            <a:off x="7452360" y="2807208"/>
            <a:ext cx="3870655" cy="4572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Search your documents for the chunks most relevant to the question.</a:t>
            </a:r>
            <a:endParaRPr lang="en-US" sz="1250" dirty="0"/>
          </a:p>
        </p:txBody>
      </p:sp>
      <p:sp>
        <p:nvSpPr>
          <p:cNvPr id="16" name="Shape 13"/>
          <p:cNvSpPr/>
          <p:nvPr/>
        </p:nvSpPr>
        <p:spPr>
          <a:xfrm>
            <a:off x="6583680" y="3493008"/>
            <a:ext cx="4967935" cy="1024128"/>
          </a:xfrm>
          <a:prstGeom prst="roundRect">
            <a:avLst>
              <a:gd name="adj" fmla="val 7143"/>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7" name="Shape 14"/>
          <p:cNvSpPr/>
          <p:nvPr/>
        </p:nvSpPr>
        <p:spPr>
          <a:xfrm>
            <a:off x="6812280" y="3776472"/>
            <a:ext cx="457200" cy="457200"/>
          </a:xfrm>
          <a:prstGeom prst="ellipse">
            <a:avLst/>
          </a:prstGeom>
          <a:solidFill>
            <a:srgbClr val="FBBF24"/>
          </a:solidFill>
          <a:ln/>
        </p:spPr>
      </p:sp>
      <p:sp>
        <p:nvSpPr>
          <p:cNvPr id="18" name="Text 15"/>
          <p:cNvSpPr/>
          <p:nvPr/>
        </p:nvSpPr>
        <p:spPr>
          <a:xfrm>
            <a:off x="6812280" y="3776472"/>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A</a:t>
            </a:r>
            <a:endParaRPr lang="en-US" sz="1800" dirty="0"/>
          </a:p>
        </p:txBody>
      </p:sp>
      <p:sp>
        <p:nvSpPr>
          <p:cNvPr id="19" name="Text 16"/>
          <p:cNvSpPr/>
          <p:nvPr/>
        </p:nvSpPr>
        <p:spPr>
          <a:xfrm>
            <a:off x="7452360" y="3639312"/>
            <a:ext cx="3962095"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Augment</a:t>
            </a:r>
            <a:endParaRPr lang="en-US" sz="1600" dirty="0"/>
          </a:p>
        </p:txBody>
      </p:sp>
      <p:sp>
        <p:nvSpPr>
          <p:cNvPr id="20" name="Text 17"/>
          <p:cNvSpPr/>
          <p:nvPr/>
        </p:nvSpPr>
        <p:spPr>
          <a:xfrm>
            <a:off x="7452360" y="3968496"/>
            <a:ext cx="3870655" cy="4572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Paste those chunks into the prompt, alongside the user's question.</a:t>
            </a:r>
            <a:endParaRPr lang="en-US" sz="1250" dirty="0"/>
          </a:p>
        </p:txBody>
      </p:sp>
      <p:sp>
        <p:nvSpPr>
          <p:cNvPr id="21" name="Shape 18"/>
          <p:cNvSpPr/>
          <p:nvPr/>
        </p:nvSpPr>
        <p:spPr>
          <a:xfrm>
            <a:off x="6583680" y="4654296"/>
            <a:ext cx="4967935" cy="1024128"/>
          </a:xfrm>
          <a:prstGeom prst="roundRect">
            <a:avLst>
              <a:gd name="adj" fmla="val 7143"/>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2" name="Shape 19"/>
          <p:cNvSpPr/>
          <p:nvPr/>
        </p:nvSpPr>
        <p:spPr>
          <a:xfrm>
            <a:off x="6812280" y="4937760"/>
            <a:ext cx="457200" cy="457200"/>
          </a:xfrm>
          <a:prstGeom prst="ellipse">
            <a:avLst/>
          </a:prstGeom>
          <a:solidFill>
            <a:srgbClr val="FF4D6A"/>
          </a:solidFill>
          <a:ln/>
        </p:spPr>
      </p:sp>
      <p:sp>
        <p:nvSpPr>
          <p:cNvPr id="23" name="Text 20"/>
          <p:cNvSpPr/>
          <p:nvPr/>
        </p:nvSpPr>
        <p:spPr>
          <a:xfrm>
            <a:off x="6812280" y="4937760"/>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G</a:t>
            </a:r>
            <a:endParaRPr lang="en-US" sz="1800" dirty="0"/>
          </a:p>
        </p:txBody>
      </p:sp>
      <p:sp>
        <p:nvSpPr>
          <p:cNvPr id="24" name="Text 21"/>
          <p:cNvSpPr/>
          <p:nvPr/>
        </p:nvSpPr>
        <p:spPr>
          <a:xfrm>
            <a:off x="7452360" y="4800600"/>
            <a:ext cx="3962095"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Generate</a:t>
            </a:r>
            <a:endParaRPr lang="en-US" sz="1600" dirty="0"/>
          </a:p>
        </p:txBody>
      </p:sp>
      <p:sp>
        <p:nvSpPr>
          <p:cNvPr id="25" name="Text 22"/>
          <p:cNvSpPr/>
          <p:nvPr/>
        </p:nvSpPr>
        <p:spPr>
          <a:xfrm>
            <a:off x="7452360" y="5129784"/>
            <a:ext cx="3870655" cy="4572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The model answers from the supplied context — grounded, not guessed.</a:t>
            </a:r>
            <a:endParaRPr lang="en-US" sz="1250" dirty="0"/>
          </a:p>
        </p:txBody>
      </p:sp>
      <p:sp>
        <p:nvSpPr>
          <p:cNvPr id="27" name="Text 23"/>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8" name="Text 24"/>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the pipeline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Two phases: ingest once, then retrieve on every question</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05</a:t>
            </a:r>
            <a:endParaRPr lang="en-US" sz="4000" dirty="0"/>
          </a:p>
        </p:txBody>
      </p:sp>
      <p:sp>
        <p:nvSpPr>
          <p:cNvPr id="5" name="Text 3"/>
          <p:cNvSpPr/>
          <p:nvPr/>
        </p:nvSpPr>
        <p:spPr>
          <a:xfrm>
            <a:off x="640080" y="1691640"/>
            <a:ext cx="4572000" cy="274320"/>
          </a:xfrm>
          <a:prstGeom prst="rect">
            <a:avLst/>
          </a:prstGeom>
          <a:noFill/>
          <a:ln/>
        </p:spPr>
        <p:txBody>
          <a:bodyPr wrap="square" lIns="0" tIns="0" rIns="0" bIns="0" rtlCol="0" anchor="ctr"/>
          <a:lstStyle/>
          <a:p>
            <a:pPr indent="0" marL="0">
              <a:buNone/>
            </a:pPr>
            <a:r>
              <a:rPr lang="en-US" sz="1100" b="1" spc="100" kern="0" dirty="0">
                <a:solidFill>
                  <a:srgbClr val="FBBF24"/>
                </a:solidFill>
                <a:latin typeface="Courier New" pitchFamily="34" charset="0"/>
                <a:ea typeface="Courier New" pitchFamily="34" charset="-122"/>
                <a:cs typeface="Courier New" pitchFamily="34" charset="-120"/>
              </a:rPr>
              <a:t>INGESTION  ·  at startup</a:t>
            </a:r>
            <a:endParaRPr lang="en-US" sz="1100" dirty="0"/>
          </a:p>
        </p:txBody>
      </p:sp>
      <p:sp>
        <p:nvSpPr>
          <p:cNvPr id="6" name="Text 4"/>
          <p:cNvSpPr/>
          <p:nvPr/>
        </p:nvSpPr>
        <p:spPr>
          <a:xfrm>
            <a:off x="6400800" y="1691640"/>
            <a:ext cx="4572000" cy="274320"/>
          </a:xfrm>
          <a:prstGeom prst="rect">
            <a:avLst/>
          </a:prstGeom>
          <a:noFill/>
          <a:ln/>
        </p:spPr>
        <p:txBody>
          <a:bodyPr wrap="square" lIns="0" tIns="0" rIns="0" bIns="0" rtlCol="0" anchor="ctr"/>
          <a:lstStyle/>
          <a:p>
            <a:pPr indent="0" marL="0">
              <a:buNone/>
            </a:pPr>
            <a:r>
              <a:rPr lang="en-US" sz="1100" b="1" spc="100" kern="0" dirty="0">
                <a:solidFill>
                  <a:srgbClr val="34D399"/>
                </a:solidFill>
                <a:latin typeface="Courier New" pitchFamily="34" charset="0"/>
                <a:ea typeface="Courier New" pitchFamily="34" charset="-122"/>
                <a:cs typeface="Courier New" pitchFamily="34" charset="-120"/>
              </a:rPr>
              <a:t>QUERY  ·  per request</a:t>
            </a:r>
            <a:endParaRPr lang="en-US" sz="1100" dirty="0"/>
          </a:p>
        </p:txBody>
      </p:sp>
      <p:sp>
        <p:nvSpPr>
          <p:cNvPr id="7" name="Shape 5"/>
          <p:cNvSpPr/>
          <p:nvPr/>
        </p:nvSpPr>
        <p:spPr>
          <a:xfrm>
            <a:off x="640080" y="2057400"/>
            <a:ext cx="2542032"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8" name="Shape 6"/>
          <p:cNvSpPr/>
          <p:nvPr/>
        </p:nvSpPr>
        <p:spPr>
          <a:xfrm>
            <a:off x="841248" y="2258568"/>
            <a:ext cx="457200" cy="457200"/>
          </a:xfrm>
          <a:prstGeom prst="ellipse">
            <a:avLst/>
          </a:prstGeom>
          <a:solidFill>
            <a:srgbClr val="FBBF24"/>
          </a:solidFill>
          <a:ln/>
        </p:spPr>
      </p:sp>
      <p:sp>
        <p:nvSpPr>
          <p:cNvPr id="9" name="Text 7"/>
          <p:cNvSpPr/>
          <p:nvPr/>
        </p:nvSpPr>
        <p:spPr>
          <a:xfrm>
            <a:off x="841248" y="2258568"/>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1</a:t>
            </a:r>
            <a:endParaRPr lang="en-US" sz="1800" dirty="0"/>
          </a:p>
        </p:txBody>
      </p:sp>
      <p:sp>
        <p:nvSpPr>
          <p:cNvPr id="10" name="Text 8"/>
          <p:cNvSpPr/>
          <p:nvPr/>
        </p:nvSpPr>
        <p:spPr>
          <a:xfrm>
            <a:off x="841248" y="2807208"/>
            <a:ext cx="2139696" cy="365760"/>
          </a:xfrm>
          <a:prstGeom prst="rect">
            <a:avLst/>
          </a:prstGeom>
          <a:noFill/>
          <a:ln/>
        </p:spPr>
        <p:txBody>
          <a:bodyPr wrap="square" lIns="0" tIns="0" rIns="0" bIns="0" rtlCol="0" anchor="t"/>
          <a:lstStyle/>
          <a:p>
            <a:pPr algn="l" indent="0" marL="0">
              <a:buNone/>
            </a:pPr>
            <a:r>
              <a:rPr lang="en-US" sz="1450" b="1" dirty="0">
                <a:solidFill>
                  <a:srgbClr val="FFFFFF"/>
                </a:solidFill>
                <a:latin typeface="Arial" pitchFamily="34" charset="0"/>
                <a:ea typeface="Arial" pitchFamily="34" charset="-122"/>
                <a:cs typeface="Arial" pitchFamily="34" charset="-120"/>
              </a:rPr>
              <a:t>Split &amp; embed</a:t>
            </a:r>
            <a:endParaRPr lang="en-US" sz="1450" dirty="0"/>
          </a:p>
        </p:txBody>
      </p:sp>
      <p:sp>
        <p:nvSpPr>
          <p:cNvPr id="11" name="Text 9"/>
          <p:cNvSpPr/>
          <p:nvPr/>
        </p:nvSpPr>
        <p:spPr>
          <a:xfrm>
            <a:off x="841248" y="3191256"/>
            <a:ext cx="2139696" cy="1051560"/>
          </a:xfrm>
          <a:prstGeom prst="rect">
            <a:avLst/>
          </a:prstGeom>
          <a:noFill/>
          <a:ln/>
        </p:spPr>
        <p:txBody>
          <a:bodyPr wrap="square" lIns="0" tIns="0" rIns="0" bIns="0" rtlCol="0" anchor="t"/>
          <a:lstStyle/>
          <a:p>
            <a:pPr algn="l" indent="0" marL="0">
              <a:buNone/>
            </a:pPr>
            <a:r>
              <a:rPr lang="en-US" sz="1150" dirty="0">
                <a:solidFill>
                  <a:srgbClr val="8294AE"/>
                </a:solidFill>
                <a:latin typeface="Calibri" pitchFamily="34" charset="0"/>
                <a:ea typeface="Calibri" pitchFamily="34" charset="-122"/>
                <a:cs typeface="Calibri" pitchFamily="34" charset="-120"/>
              </a:rPr>
              <a:t>Chop documents into chunks; turn each into a vector with an embedding model.</a:t>
            </a:r>
            <a:endParaRPr lang="en-US" sz="1150" dirty="0"/>
          </a:p>
        </p:txBody>
      </p:sp>
      <p:sp>
        <p:nvSpPr>
          <p:cNvPr id="12" name="Shape 10"/>
          <p:cNvSpPr/>
          <p:nvPr/>
        </p:nvSpPr>
        <p:spPr>
          <a:xfrm>
            <a:off x="3483864" y="2057400"/>
            <a:ext cx="2542032"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3" name="Shape 11"/>
          <p:cNvSpPr/>
          <p:nvPr/>
        </p:nvSpPr>
        <p:spPr>
          <a:xfrm>
            <a:off x="3685032" y="2258568"/>
            <a:ext cx="457200" cy="457200"/>
          </a:xfrm>
          <a:prstGeom prst="ellipse">
            <a:avLst/>
          </a:prstGeom>
          <a:solidFill>
            <a:srgbClr val="FBBF24"/>
          </a:solidFill>
          <a:ln/>
        </p:spPr>
      </p:sp>
      <p:sp>
        <p:nvSpPr>
          <p:cNvPr id="14" name="Text 12"/>
          <p:cNvSpPr/>
          <p:nvPr/>
        </p:nvSpPr>
        <p:spPr>
          <a:xfrm>
            <a:off x="3685032" y="2258568"/>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3685032" y="2807208"/>
            <a:ext cx="2139696" cy="365760"/>
          </a:xfrm>
          <a:prstGeom prst="rect">
            <a:avLst/>
          </a:prstGeom>
          <a:noFill/>
          <a:ln/>
        </p:spPr>
        <p:txBody>
          <a:bodyPr wrap="square" lIns="0" tIns="0" rIns="0" bIns="0" rtlCol="0" anchor="t"/>
          <a:lstStyle/>
          <a:p>
            <a:pPr algn="l" indent="0" marL="0">
              <a:buNone/>
            </a:pPr>
            <a:r>
              <a:rPr lang="en-US" sz="1450" b="1" dirty="0">
                <a:solidFill>
                  <a:srgbClr val="FFFFFF"/>
                </a:solidFill>
                <a:latin typeface="Arial" pitchFamily="34" charset="0"/>
                <a:ea typeface="Arial" pitchFamily="34" charset="-122"/>
                <a:cs typeface="Arial" pitchFamily="34" charset="-120"/>
              </a:rPr>
              <a:t>Store</a:t>
            </a:r>
            <a:endParaRPr lang="en-US" sz="1450" dirty="0"/>
          </a:p>
        </p:txBody>
      </p:sp>
      <p:sp>
        <p:nvSpPr>
          <p:cNvPr id="16" name="Text 14"/>
          <p:cNvSpPr/>
          <p:nvPr/>
        </p:nvSpPr>
        <p:spPr>
          <a:xfrm>
            <a:off x="3685032" y="3191256"/>
            <a:ext cx="2139696" cy="1051560"/>
          </a:xfrm>
          <a:prstGeom prst="rect">
            <a:avLst/>
          </a:prstGeom>
          <a:noFill/>
          <a:ln/>
        </p:spPr>
        <p:txBody>
          <a:bodyPr wrap="square" lIns="0" tIns="0" rIns="0" bIns="0" rtlCol="0" anchor="t"/>
          <a:lstStyle/>
          <a:p>
            <a:pPr algn="l" indent="0" marL="0">
              <a:buNone/>
            </a:pPr>
            <a:r>
              <a:rPr lang="en-US" sz="1150" dirty="0">
                <a:solidFill>
                  <a:srgbClr val="8294AE"/>
                </a:solidFill>
                <a:latin typeface="Calibri" pitchFamily="34" charset="0"/>
                <a:ea typeface="Calibri" pitchFamily="34" charset="-122"/>
                <a:cs typeface="Calibri" pitchFamily="34" charset="-120"/>
              </a:rPr>
              <a:t>Keep the vectors in an embedding store — in-memory for the demo, pgvector in prod.</a:t>
            </a:r>
            <a:endParaRPr lang="en-US" sz="1150" dirty="0"/>
          </a:p>
        </p:txBody>
      </p:sp>
      <p:sp>
        <p:nvSpPr>
          <p:cNvPr id="17" name="Shape 15"/>
          <p:cNvSpPr/>
          <p:nvPr/>
        </p:nvSpPr>
        <p:spPr>
          <a:xfrm>
            <a:off x="6281928" y="3223260"/>
            <a:ext cx="393192" cy="0"/>
          </a:xfrm>
          <a:prstGeom prst="line">
            <a:avLst/>
          </a:prstGeom>
          <a:noFill/>
          <a:ln w="19050">
            <a:solidFill>
              <a:srgbClr val="2B3A52"/>
            </a:solidFill>
            <a:prstDash val="solid"/>
            <a:tailEnd type="triangle"/>
          </a:ln>
        </p:spPr>
      </p:sp>
      <p:sp>
        <p:nvSpPr>
          <p:cNvPr id="18" name="Shape 16"/>
          <p:cNvSpPr/>
          <p:nvPr/>
        </p:nvSpPr>
        <p:spPr>
          <a:xfrm>
            <a:off x="6400800" y="2057400"/>
            <a:ext cx="2542032"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9" name="Shape 17"/>
          <p:cNvSpPr/>
          <p:nvPr/>
        </p:nvSpPr>
        <p:spPr>
          <a:xfrm>
            <a:off x="6601968" y="2258568"/>
            <a:ext cx="457200" cy="457200"/>
          </a:xfrm>
          <a:prstGeom prst="ellipse">
            <a:avLst/>
          </a:prstGeom>
          <a:solidFill>
            <a:srgbClr val="34D399"/>
          </a:solidFill>
          <a:ln/>
        </p:spPr>
      </p:sp>
      <p:sp>
        <p:nvSpPr>
          <p:cNvPr id="20" name="Text 18"/>
          <p:cNvSpPr/>
          <p:nvPr/>
        </p:nvSpPr>
        <p:spPr>
          <a:xfrm>
            <a:off x="6601968" y="2258568"/>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6601968" y="2807208"/>
            <a:ext cx="2139696" cy="365760"/>
          </a:xfrm>
          <a:prstGeom prst="rect">
            <a:avLst/>
          </a:prstGeom>
          <a:noFill/>
          <a:ln/>
        </p:spPr>
        <p:txBody>
          <a:bodyPr wrap="square" lIns="0" tIns="0" rIns="0" bIns="0" rtlCol="0" anchor="t"/>
          <a:lstStyle/>
          <a:p>
            <a:pPr algn="l" indent="0" marL="0">
              <a:buNone/>
            </a:pPr>
            <a:r>
              <a:rPr lang="en-US" sz="1450" b="1" dirty="0">
                <a:solidFill>
                  <a:srgbClr val="FFFFFF"/>
                </a:solidFill>
                <a:latin typeface="Arial" pitchFamily="34" charset="0"/>
                <a:ea typeface="Arial" pitchFamily="34" charset="-122"/>
                <a:cs typeface="Arial" pitchFamily="34" charset="-120"/>
              </a:rPr>
              <a:t>Embed the question</a:t>
            </a:r>
            <a:endParaRPr lang="en-US" sz="1450" dirty="0"/>
          </a:p>
        </p:txBody>
      </p:sp>
      <p:sp>
        <p:nvSpPr>
          <p:cNvPr id="22" name="Text 20"/>
          <p:cNvSpPr/>
          <p:nvPr/>
        </p:nvSpPr>
        <p:spPr>
          <a:xfrm>
            <a:off x="6601968" y="3191256"/>
            <a:ext cx="2139696" cy="1051560"/>
          </a:xfrm>
          <a:prstGeom prst="rect">
            <a:avLst/>
          </a:prstGeom>
          <a:noFill/>
          <a:ln/>
        </p:spPr>
        <p:txBody>
          <a:bodyPr wrap="square" lIns="0" tIns="0" rIns="0" bIns="0" rtlCol="0" anchor="t"/>
          <a:lstStyle/>
          <a:p>
            <a:pPr algn="l" indent="0" marL="0">
              <a:buNone/>
            </a:pPr>
            <a:r>
              <a:rPr lang="en-US" sz="1150" dirty="0">
                <a:solidFill>
                  <a:srgbClr val="8294AE"/>
                </a:solidFill>
                <a:latin typeface="Calibri" pitchFamily="34" charset="0"/>
                <a:ea typeface="Calibri" pitchFamily="34" charset="-122"/>
                <a:cs typeface="Calibri" pitchFamily="34" charset="-120"/>
              </a:rPr>
              <a:t>The user's question goes through the same embedding model to a vector.</a:t>
            </a:r>
            <a:endParaRPr lang="en-US" sz="1150" dirty="0"/>
          </a:p>
        </p:txBody>
      </p:sp>
      <p:sp>
        <p:nvSpPr>
          <p:cNvPr id="23" name="Shape 21"/>
          <p:cNvSpPr/>
          <p:nvPr/>
        </p:nvSpPr>
        <p:spPr>
          <a:xfrm>
            <a:off x="9244584" y="2057400"/>
            <a:ext cx="2542032"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4" name="Shape 22"/>
          <p:cNvSpPr/>
          <p:nvPr/>
        </p:nvSpPr>
        <p:spPr>
          <a:xfrm>
            <a:off x="9445752" y="2258568"/>
            <a:ext cx="457200" cy="457200"/>
          </a:xfrm>
          <a:prstGeom prst="ellipse">
            <a:avLst/>
          </a:prstGeom>
          <a:solidFill>
            <a:srgbClr val="34D399"/>
          </a:solidFill>
          <a:ln/>
        </p:spPr>
      </p:sp>
      <p:sp>
        <p:nvSpPr>
          <p:cNvPr id="25" name="Text 23"/>
          <p:cNvSpPr/>
          <p:nvPr/>
        </p:nvSpPr>
        <p:spPr>
          <a:xfrm>
            <a:off x="9445752" y="2258568"/>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9445752" y="2807208"/>
            <a:ext cx="2139696" cy="365760"/>
          </a:xfrm>
          <a:prstGeom prst="rect">
            <a:avLst/>
          </a:prstGeom>
          <a:noFill/>
          <a:ln/>
        </p:spPr>
        <p:txBody>
          <a:bodyPr wrap="square" lIns="0" tIns="0" rIns="0" bIns="0" rtlCol="0" anchor="t"/>
          <a:lstStyle/>
          <a:p>
            <a:pPr algn="l" indent="0" marL="0">
              <a:buNone/>
            </a:pPr>
            <a:r>
              <a:rPr lang="en-US" sz="1450" b="1" dirty="0">
                <a:solidFill>
                  <a:srgbClr val="FFFFFF"/>
                </a:solidFill>
                <a:latin typeface="Arial" pitchFamily="34" charset="0"/>
                <a:ea typeface="Arial" pitchFamily="34" charset="-122"/>
                <a:cs typeface="Arial" pitchFamily="34" charset="-120"/>
              </a:rPr>
              <a:t>Similarity search</a:t>
            </a:r>
            <a:endParaRPr lang="en-US" sz="1450" dirty="0"/>
          </a:p>
        </p:txBody>
      </p:sp>
      <p:sp>
        <p:nvSpPr>
          <p:cNvPr id="27" name="Text 25"/>
          <p:cNvSpPr/>
          <p:nvPr/>
        </p:nvSpPr>
        <p:spPr>
          <a:xfrm>
            <a:off x="9445752" y="3191256"/>
            <a:ext cx="2139696" cy="1051560"/>
          </a:xfrm>
          <a:prstGeom prst="rect">
            <a:avLst/>
          </a:prstGeom>
          <a:noFill/>
          <a:ln/>
        </p:spPr>
        <p:txBody>
          <a:bodyPr wrap="square" lIns="0" tIns="0" rIns="0" bIns="0" rtlCol="0" anchor="t"/>
          <a:lstStyle/>
          <a:p>
            <a:pPr algn="l" indent="0" marL="0">
              <a:buNone/>
            </a:pPr>
            <a:r>
              <a:rPr lang="en-US" sz="1150" dirty="0">
                <a:solidFill>
                  <a:srgbClr val="8294AE"/>
                </a:solidFill>
                <a:latin typeface="Calibri" pitchFamily="34" charset="0"/>
                <a:ea typeface="Calibri" pitchFamily="34" charset="-122"/>
                <a:cs typeface="Calibri" pitchFamily="34" charset="-120"/>
              </a:rPr>
              <a:t>Find the nearest chunks in vector space — semantic match, not keyword match.</a:t>
            </a:r>
            <a:endParaRPr lang="en-US" sz="1150" dirty="0"/>
          </a:p>
        </p:txBody>
      </p:sp>
      <p:sp>
        <p:nvSpPr>
          <p:cNvPr id="28" name="Shape 26"/>
          <p:cNvSpPr/>
          <p:nvPr/>
        </p:nvSpPr>
        <p:spPr>
          <a:xfrm>
            <a:off x="640080" y="4709160"/>
            <a:ext cx="10911535" cy="868680"/>
          </a:xfrm>
          <a:prstGeom prst="roundRect">
            <a:avLst>
              <a:gd name="adj" fmla="val 8421"/>
            </a:avLst>
          </a:prstGeom>
          <a:solidFill>
            <a:srgbClr val="16202F"/>
          </a:solidFill>
          <a:ln w="12700">
            <a:solidFill>
              <a:srgbClr val="34D399"/>
            </a:solidFill>
            <a:prstDash val="solid"/>
          </a:ln>
          <a:effectLst>
            <a:outerShdw sx="100000" sy="100000" kx="0" ky="0" algn="bl" rotWithShape="0" blurRad="114300" dist="38100" dir="5400000">
              <a:srgbClr val="000000">
                <a:alpha val="28000"/>
              </a:srgbClr>
            </a:outerShdw>
          </a:effectLst>
        </p:spPr>
      </p:sp>
      <p:sp>
        <p:nvSpPr>
          <p:cNvPr id="29" name="Shape 27"/>
          <p:cNvSpPr/>
          <p:nvPr/>
        </p:nvSpPr>
        <p:spPr>
          <a:xfrm>
            <a:off x="914400" y="4910328"/>
            <a:ext cx="457200" cy="457200"/>
          </a:xfrm>
          <a:prstGeom prst="ellipse">
            <a:avLst/>
          </a:prstGeom>
          <a:solidFill>
            <a:srgbClr val="34D399"/>
          </a:solidFill>
          <a:ln/>
        </p:spPr>
      </p:sp>
      <p:sp>
        <p:nvSpPr>
          <p:cNvPr id="30" name="Text 28"/>
          <p:cNvSpPr/>
          <p:nvPr/>
        </p:nvSpPr>
        <p:spPr>
          <a:xfrm>
            <a:off x="914400" y="4910328"/>
            <a:ext cx="457200" cy="457200"/>
          </a:xfrm>
          <a:prstGeom prst="rect">
            <a:avLst/>
          </a:prstGeom>
          <a:noFill/>
          <a:ln/>
        </p:spPr>
        <p:txBody>
          <a:bodyPr wrap="square" lIns="0" tIns="0" rIns="0" bIns="0" rtlCol="0" anchor="ctr"/>
          <a:lstStyle/>
          <a:p>
            <a:pPr algn="ctr" indent="0" marL="0">
              <a:buNone/>
            </a:pPr>
            <a:r>
              <a:rPr lang="en-US" sz="1800" b="1" dirty="0">
                <a:solidFill>
                  <a:srgbClr val="0E1726"/>
                </a:solidFill>
                <a:latin typeface="Arial" pitchFamily="34" charset="0"/>
                <a:ea typeface="Arial" pitchFamily="34" charset="-122"/>
                <a:cs typeface="Arial" pitchFamily="34" charset="-120"/>
              </a:rPr>
              <a:t>5</a:t>
            </a:r>
            <a:endParaRPr lang="en-US" sz="1800" dirty="0"/>
          </a:p>
        </p:txBody>
      </p:sp>
      <p:sp>
        <p:nvSpPr>
          <p:cNvPr id="31" name="Text 29"/>
          <p:cNvSpPr/>
          <p:nvPr/>
        </p:nvSpPr>
        <p:spPr>
          <a:xfrm>
            <a:off x="1554480" y="4709160"/>
            <a:ext cx="9722815" cy="86868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Inject + generate   </a:t>
            </a:r>
            <a:pPr algn="l" indent="0" marL="0">
              <a:buNone/>
            </a:pPr>
            <a:r>
              <a:rPr lang="en-US" sz="1400" dirty="0">
                <a:solidFill>
                  <a:srgbClr val="CBD5E1"/>
                </a:solidFill>
                <a:latin typeface="Calibri" pitchFamily="34" charset="0"/>
                <a:ea typeface="Calibri" pitchFamily="34" charset="-122"/>
                <a:cs typeface="Calibri" pitchFamily="34" charset="-120"/>
              </a:rPr>
              <a:t>the retrieved chunks are pasted into the prompt, and the model answers from them — citing your data instead of inventing it.</a:t>
            </a:r>
            <a:endParaRPr lang="en-US" sz="1400" dirty="0"/>
          </a:p>
        </p:txBody>
      </p:sp>
      <p:sp>
        <p:nvSpPr>
          <p:cNvPr id="32" name="Text 30"/>
          <p:cNvSpPr/>
          <p:nvPr/>
        </p:nvSpPr>
        <p:spPr>
          <a:xfrm>
            <a:off x="640080" y="6144768"/>
            <a:ext cx="8229600" cy="274320"/>
          </a:xfrm>
          <a:prstGeom prst="rect">
            <a:avLst/>
          </a:prstGeom>
          <a:noFill/>
          <a:ln/>
        </p:spPr>
        <p:txBody>
          <a:bodyPr wrap="square" lIns="0" tIns="0" rIns="0" bIns="0" rtlCol="0" anchor="ctr"/>
          <a:lstStyle/>
          <a:p>
            <a:pPr algn="l" indent="0" marL="0">
              <a:buNone/>
            </a:pPr>
            <a:r>
              <a:rPr lang="en-US" sz="950" i="1" dirty="0">
                <a:solidFill>
                  <a:srgbClr val="2B3A52"/>
                </a:solidFill>
                <a:latin typeface="Calibri" pitchFamily="34" charset="0"/>
                <a:ea typeface="Calibri" pitchFamily="34" charset="-122"/>
                <a:cs typeface="Calibri" pitchFamily="34" charset="-120"/>
              </a:rPr>
              <a:t>A polished version of this diagram ships separately as assets/rag-pipeline.svg</a:t>
            </a:r>
            <a:endParaRPr lang="en-US" sz="950" dirty="0"/>
          </a:p>
        </p:txBody>
      </p:sp>
      <p:sp>
        <p:nvSpPr>
          <p:cNvPr id="34" name="Text 31"/>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35" name="Text 32"/>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the choice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Why LangChain4j, not the managed “RAG” button</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06</a:t>
            </a:r>
            <a:endParaRPr lang="en-US" sz="4000" dirty="0"/>
          </a:p>
        </p:txBody>
      </p:sp>
      <p:sp>
        <p:nvSpPr>
          <p:cNvPr id="5" name="Shape 3"/>
          <p:cNvSpPr/>
          <p:nvPr/>
        </p:nvSpPr>
        <p:spPr>
          <a:xfrm>
            <a:off x="640080" y="2286000"/>
            <a:ext cx="3393338" cy="2743200"/>
          </a:xfrm>
          <a:prstGeom prst="roundRect">
            <a:avLst>
              <a:gd name="adj" fmla="val 3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914400" y="2578608"/>
            <a:ext cx="822960" cy="822960"/>
          </a:xfrm>
          <a:prstGeom prst="ellipse">
            <a:avLst/>
          </a:prstGeom>
          <a:solidFill>
            <a:srgbClr val="243349"/>
          </a:solidFill>
          <a:ln w="12700">
            <a:solidFill>
              <a:srgbClr val="2B3A52"/>
            </a:solidFill>
            <a:prstDash val="solid"/>
          </a:ln>
        </p:spPr>
      </p:sp>
      <p:pic>
        <p:nvPicPr>
          <p:cNvPr id="7" name="Image 0" descr="preencoded.png">    </p:cNvPr>
          <p:cNvPicPr>
            <a:picLocks noChangeAspect="1"/>
          </p:cNvPicPr>
          <p:nvPr/>
        </p:nvPicPr>
        <p:blipFill>
          <a:blip r:embed="rId1"/>
          <a:stretch>
            <a:fillRect/>
          </a:stretch>
        </p:blipFill>
        <p:spPr>
          <a:xfrm>
            <a:off x="1144829" y="2809037"/>
            <a:ext cx="362102" cy="362102"/>
          </a:xfrm>
          <a:prstGeom prst="rect">
            <a:avLst/>
          </a:prstGeom>
        </p:spPr>
      </p:pic>
      <p:sp>
        <p:nvSpPr>
          <p:cNvPr id="8" name="Text 5"/>
          <p:cNvSpPr/>
          <p:nvPr/>
        </p:nvSpPr>
        <p:spPr>
          <a:xfrm>
            <a:off x="914400" y="3520440"/>
            <a:ext cx="2844698" cy="457200"/>
          </a:xfrm>
          <a:prstGeom prst="rect">
            <a:avLst/>
          </a:prstGeom>
          <a:noFill/>
          <a:ln/>
        </p:spPr>
        <p:txBody>
          <a:bodyPr wrap="square" lIns="0" tIns="0" rIns="0" bIns="0" rtlCol="0" anchor="t"/>
          <a:lstStyle/>
          <a:p>
            <a:pPr algn="l" indent="0" marL="0">
              <a:buNone/>
            </a:pPr>
            <a:r>
              <a:rPr lang="en-US" sz="1650" b="1" dirty="0">
                <a:solidFill>
                  <a:srgbClr val="FFFFFF"/>
                </a:solidFill>
                <a:latin typeface="Arial" pitchFamily="34" charset="0"/>
                <a:ea typeface="Arial" pitchFamily="34" charset="-122"/>
                <a:cs typeface="Arial" pitchFamily="34" charset="-120"/>
              </a:rPr>
              <a:t>You own the retrieval</a:t>
            </a:r>
            <a:endParaRPr lang="en-US" sz="1650" dirty="0"/>
          </a:p>
        </p:txBody>
      </p:sp>
      <p:sp>
        <p:nvSpPr>
          <p:cNvPr id="9" name="Text 6"/>
          <p:cNvSpPr/>
          <p:nvPr/>
        </p:nvSpPr>
        <p:spPr>
          <a:xfrm>
            <a:off x="914400" y="4023360"/>
            <a:ext cx="2844698" cy="822960"/>
          </a:xfrm>
          <a:prstGeom prst="rect">
            <a:avLst/>
          </a:prstGeom>
          <a:noFill/>
          <a:ln/>
        </p:spPr>
        <p:txBody>
          <a:bodyPr wrap="square" lIns="0" tIns="0" rIns="0" bIns="0" rtlCol="0" anchor="t"/>
          <a:lstStyle/>
          <a:p>
            <a:pPr algn="l" indent="0" marL="0">
              <a:buNone/>
            </a:pPr>
            <a:r>
              <a:rPr lang="en-US" sz="1300" dirty="0">
                <a:solidFill>
                  <a:srgbClr val="8294AE"/>
                </a:solidFill>
                <a:latin typeface="Calibri" pitchFamily="34" charset="0"/>
                <a:ea typeface="Calibri" pitchFamily="34" charset="-122"/>
                <a:cs typeface="Calibri" pitchFamily="34" charset="-120"/>
              </a:rPr>
              <a:t>Chunking, embeddings, how context is injected — all yours to tune. Managed RAG hides exactly the parts you'll need to fix.</a:t>
            </a:r>
            <a:endParaRPr lang="en-US" sz="1300" dirty="0"/>
          </a:p>
        </p:txBody>
      </p:sp>
      <p:sp>
        <p:nvSpPr>
          <p:cNvPr id="10" name="Shape 7"/>
          <p:cNvSpPr/>
          <p:nvPr/>
        </p:nvSpPr>
        <p:spPr>
          <a:xfrm>
            <a:off x="4399178" y="2286000"/>
            <a:ext cx="3393338" cy="2743200"/>
          </a:xfrm>
          <a:prstGeom prst="roundRect">
            <a:avLst>
              <a:gd name="adj" fmla="val 3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1" name="Shape 8"/>
          <p:cNvSpPr/>
          <p:nvPr/>
        </p:nvSpPr>
        <p:spPr>
          <a:xfrm>
            <a:off x="4673498" y="2578608"/>
            <a:ext cx="822960" cy="822960"/>
          </a:xfrm>
          <a:prstGeom prst="ellipse">
            <a:avLst/>
          </a:prstGeom>
          <a:solidFill>
            <a:srgbClr val="243349"/>
          </a:solidFill>
          <a:ln w="12700">
            <a:solidFill>
              <a:srgbClr val="2B3A52"/>
            </a:solidFill>
            <a:prstDash val="solid"/>
          </a:ln>
        </p:spPr>
      </p:sp>
      <p:pic>
        <p:nvPicPr>
          <p:cNvPr id="12" name="Image 1" descr="preencoded.png">    </p:cNvPr>
          <p:cNvPicPr>
            <a:picLocks noChangeAspect="1"/>
          </p:cNvPicPr>
          <p:nvPr/>
        </p:nvPicPr>
        <p:blipFill>
          <a:blip r:embed="rId2"/>
          <a:stretch>
            <a:fillRect/>
          </a:stretch>
        </p:blipFill>
        <p:spPr>
          <a:xfrm>
            <a:off x="4903927" y="2809037"/>
            <a:ext cx="362102" cy="362102"/>
          </a:xfrm>
          <a:prstGeom prst="rect">
            <a:avLst/>
          </a:prstGeom>
        </p:spPr>
      </p:pic>
      <p:sp>
        <p:nvSpPr>
          <p:cNvPr id="13" name="Text 9"/>
          <p:cNvSpPr/>
          <p:nvPr/>
        </p:nvSpPr>
        <p:spPr>
          <a:xfrm>
            <a:off x="4673498" y="3520440"/>
            <a:ext cx="2844698" cy="457200"/>
          </a:xfrm>
          <a:prstGeom prst="rect">
            <a:avLst/>
          </a:prstGeom>
          <a:noFill/>
          <a:ln/>
        </p:spPr>
        <p:txBody>
          <a:bodyPr wrap="square" lIns="0" tIns="0" rIns="0" bIns="0" rtlCol="0" anchor="t"/>
          <a:lstStyle/>
          <a:p>
            <a:pPr algn="l" indent="0" marL="0">
              <a:buNone/>
            </a:pPr>
            <a:r>
              <a:rPr lang="en-US" sz="1650" b="1" dirty="0">
                <a:solidFill>
                  <a:srgbClr val="FFFFFF"/>
                </a:solidFill>
                <a:latin typeface="Arial" pitchFamily="34" charset="0"/>
                <a:ea typeface="Arial" pitchFamily="34" charset="-122"/>
                <a:cs typeface="Arial" pitchFamily="34" charset="-120"/>
              </a:rPr>
              <a:t>No vendor lock-in</a:t>
            </a:r>
            <a:endParaRPr lang="en-US" sz="1650" dirty="0"/>
          </a:p>
        </p:txBody>
      </p:sp>
      <p:sp>
        <p:nvSpPr>
          <p:cNvPr id="14" name="Text 10"/>
          <p:cNvSpPr/>
          <p:nvPr/>
        </p:nvSpPr>
        <p:spPr>
          <a:xfrm>
            <a:off x="4673498" y="4023360"/>
            <a:ext cx="2844698" cy="822960"/>
          </a:xfrm>
          <a:prstGeom prst="rect">
            <a:avLst/>
          </a:prstGeom>
          <a:noFill/>
          <a:ln/>
        </p:spPr>
        <p:txBody>
          <a:bodyPr wrap="square" lIns="0" tIns="0" rIns="0" bIns="0" rtlCol="0" anchor="t"/>
          <a:lstStyle/>
          <a:p>
            <a:pPr algn="l" indent="0" marL="0">
              <a:buNone/>
            </a:pPr>
            <a:r>
              <a:rPr lang="en-US" sz="1300" dirty="0">
                <a:solidFill>
                  <a:srgbClr val="8294AE"/>
                </a:solidFill>
                <a:latin typeface="Calibri" pitchFamily="34" charset="0"/>
                <a:ea typeface="Calibri" pitchFamily="34" charset="-122"/>
                <a:cs typeface="Calibri" pitchFamily="34" charset="-120"/>
              </a:rPr>
              <a:t>OpenAI, Azure, Gemini, Anthropic, Ollama — swap the provider in config. Your code doesn't notice.</a:t>
            </a:r>
            <a:endParaRPr lang="en-US" sz="1300" dirty="0"/>
          </a:p>
        </p:txBody>
      </p:sp>
      <p:sp>
        <p:nvSpPr>
          <p:cNvPr id="15" name="Shape 11"/>
          <p:cNvSpPr/>
          <p:nvPr/>
        </p:nvSpPr>
        <p:spPr>
          <a:xfrm>
            <a:off x="8158277" y="2286000"/>
            <a:ext cx="3393338" cy="2743200"/>
          </a:xfrm>
          <a:prstGeom prst="roundRect">
            <a:avLst>
              <a:gd name="adj" fmla="val 3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6" name="Shape 12"/>
          <p:cNvSpPr/>
          <p:nvPr/>
        </p:nvSpPr>
        <p:spPr>
          <a:xfrm>
            <a:off x="8432597" y="2578608"/>
            <a:ext cx="822960" cy="822960"/>
          </a:xfrm>
          <a:prstGeom prst="ellipse">
            <a:avLst/>
          </a:prstGeom>
          <a:solidFill>
            <a:srgbClr val="243349"/>
          </a:solidFill>
          <a:ln w="12700">
            <a:solidFill>
              <a:srgbClr val="2B3A52"/>
            </a:solidFill>
            <a:prstDash val="solid"/>
          </a:ln>
        </p:spPr>
      </p:sp>
      <p:pic>
        <p:nvPicPr>
          <p:cNvPr id="17" name="Image 2" descr="preencoded.png">    </p:cNvPr>
          <p:cNvPicPr>
            <a:picLocks noChangeAspect="1"/>
          </p:cNvPicPr>
          <p:nvPr/>
        </p:nvPicPr>
        <p:blipFill>
          <a:blip r:embed="rId3"/>
          <a:stretch>
            <a:fillRect/>
          </a:stretch>
        </p:blipFill>
        <p:spPr>
          <a:xfrm>
            <a:off x="8663026" y="2809037"/>
            <a:ext cx="362102" cy="362102"/>
          </a:xfrm>
          <a:prstGeom prst="rect">
            <a:avLst/>
          </a:prstGeom>
        </p:spPr>
      </p:pic>
      <p:sp>
        <p:nvSpPr>
          <p:cNvPr id="18" name="Text 13"/>
          <p:cNvSpPr/>
          <p:nvPr/>
        </p:nvSpPr>
        <p:spPr>
          <a:xfrm>
            <a:off x="8432597" y="3520440"/>
            <a:ext cx="2844698" cy="457200"/>
          </a:xfrm>
          <a:prstGeom prst="rect">
            <a:avLst/>
          </a:prstGeom>
          <a:noFill/>
          <a:ln/>
        </p:spPr>
        <p:txBody>
          <a:bodyPr wrap="square" lIns="0" tIns="0" rIns="0" bIns="0" rtlCol="0" anchor="t"/>
          <a:lstStyle/>
          <a:p>
            <a:pPr algn="l" indent="0" marL="0">
              <a:buNone/>
            </a:pPr>
            <a:r>
              <a:rPr lang="en-US" sz="1650" b="1" dirty="0">
                <a:solidFill>
                  <a:srgbClr val="FFFFFF"/>
                </a:solidFill>
                <a:latin typeface="Arial" pitchFamily="34" charset="0"/>
                <a:ea typeface="Arial" pitchFamily="34" charset="-122"/>
                <a:cs typeface="Arial" pitchFamily="34" charset="-120"/>
              </a:rPr>
              <a:t>It's just Java</a:t>
            </a:r>
            <a:endParaRPr lang="en-US" sz="1650" dirty="0"/>
          </a:p>
        </p:txBody>
      </p:sp>
      <p:sp>
        <p:nvSpPr>
          <p:cNvPr id="19" name="Text 14"/>
          <p:cNvSpPr/>
          <p:nvPr/>
        </p:nvSpPr>
        <p:spPr>
          <a:xfrm>
            <a:off x="8432597" y="4023360"/>
            <a:ext cx="2844698" cy="822960"/>
          </a:xfrm>
          <a:prstGeom prst="rect">
            <a:avLst/>
          </a:prstGeom>
          <a:noFill/>
          <a:ln/>
        </p:spPr>
        <p:txBody>
          <a:bodyPr wrap="square" lIns="0" tIns="0" rIns="0" bIns="0" rtlCol="0" anchor="t"/>
          <a:lstStyle/>
          <a:p>
            <a:pPr algn="l" indent="0" marL="0">
              <a:buNone/>
            </a:pPr>
            <a:r>
              <a:rPr lang="en-US" sz="1300" dirty="0">
                <a:solidFill>
                  <a:srgbClr val="8294AE"/>
                </a:solidFill>
                <a:latin typeface="Calibri" pitchFamily="34" charset="0"/>
                <a:ea typeface="Calibri" pitchFamily="34" charset="-122"/>
                <a:cs typeface="Calibri" pitchFamily="34" charset="-120"/>
              </a:rPr>
              <a:t>Same language, build, and test story as the rest of your stack. Framework-agnostic — it runs inside Spring too.</a:t>
            </a:r>
            <a:endParaRPr lang="en-US" sz="1300" dirty="0"/>
          </a:p>
        </p:txBody>
      </p:sp>
      <p:sp>
        <p:nvSpPr>
          <p:cNvPr id="20" name="Shape 15"/>
          <p:cNvSpPr/>
          <p:nvPr/>
        </p:nvSpPr>
        <p:spPr>
          <a:xfrm>
            <a:off x="640080" y="5303520"/>
            <a:ext cx="10911535" cy="777240"/>
          </a:xfrm>
          <a:prstGeom prst="roundRect">
            <a:avLst>
              <a:gd name="adj" fmla="val 9412"/>
            </a:avLst>
          </a:prstGeom>
          <a:solidFill>
            <a:srgbClr val="16202F"/>
          </a:solidFill>
          <a:ln w="12700">
            <a:solidFill>
              <a:srgbClr val="2B3A52"/>
            </a:solidFill>
            <a:prstDash val="solid"/>
          </a:ln>
        </p:spPr>
      </p:sp>
      <p:sp>
        <p:nvSpPr>
          <p:cNvPr id="21" name="Text 16"/>
          <p:cNvSpPr/>
          <p:nvPr/>
        </p:nvSpPr>
        <p:spPr>
          <a:xfrm>
            <a:off x="914400" y="5303520"/>
            <a:ext cx="10362895" cy="777240"/>
          </a:xfrm>
          <a:prstGeom prst="rect">
            <a:avLst/>
          </a:prstGeom>
          <a:noFill/>
          <a:ln/>
        </p:spPr>
        <p:txBody>
          <a:bodyPr wrap="square" lIns="0" tIns="0" rIns="0" bIns="0" rtlCol="0" anchor="ctr"/>
          <a:lstStyle/>
          <a:p>
            <a:pPr algn="l" indent="0" marL="0">
              <a:buNone/>
            </a:pPr>
            <a:r>
              <a:rPr lang="en-US" sz="1300" b="1" dirty="0">
                <a:solidFill>
                  <a:srgbClr val="FF4D6A"/>
                </a:solidFill>
                <a:latin typeface="Calibri" pitchFamily="34" charset="0"/>
                <a:ea typeface="Calibri" pitchFamily="34" charset="-122"/>
                <a:cs typeface="Calibri" pitchFamily="34" charset="-120"/>
              </a:rPr>
              <a:t>“What about Spring AI?”   </a:t>
            </a:r>
            <a:pPr algn="l" indent="0" marL="0">
              <a:buNone/>
            </a:pPr>
            <a:r>
              <a:rPr lang="en-US" sz="1300" dirty="0">
                <a:solidFill>
                  <a:srgbClr val="CBD5E1"/>
                </a:solidFill>
                <a:latin typeface="Calibri" pitchFamily="34" charset="0"/>
                <a:ea typeface="Calibri" pitchFamily="34" charset="-122"/>
                <a:cs typeface="Calibri" pitchFamily="34" charset="-120"/>
              </a:rPr>
              <a:t>Different project, not a competitor for this talk. It's Spring-specific; LangChain4j is framework-agnostic and works inside Spring Boot too. Pick by where you want the flexibility.</a:t>
            </a:r>
            <a:endParaRPr lang="en-US" sz="1300" dirty="0"/>
          </a:p>
        </p:txBody>
      </p:sp>
      <p:sp>
        <p:nvSpPr>
          <p:cNvPr id="23" name="Text 17"/>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4" name="Text 18"/>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F4D6A"/>
                </a:solidFill>
                <a:latin typeface="Courier New" pitchFamily="34" charset="0"/>
                <a:ea typeface="Courier New" pitchFamily="34" charset="-122"/>
                <a:cs typeface="Courier New" pitchFamily="34" charset="-120"/>
              </a:rPr>
              <a:t>// the runtime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Why Quarkus — and why JVM mode is the boring, correct default</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07</a:t>
            </a:r>
            <a:endParaRPr lang="en-US" sz="4000" dirty="0"/>
          </a:p>
        </p:txBody>
      </p:sp>
      <p:sp>
        <p:nvSpPr>
          <p:cNvPr id="5" name="Text 3"/>
          <p:cNvSpPr/>
          <p:nvPr/>
        </p:nvSpPr>
        <p:spPr>
          <a:xfrm>
            <a:off x="640080" y="2240280"/>
            <a:ext cx="5577840" cy="365760"/>
          </a:xfrm>
          <a:prstGeom prst="rect">
            <a:avLst/>
          </a:prstGeom>
          <a:noFill/>
          <a:ln/>
        </p:spPr>
        <p:txBody>
          <a:bodyPr wrap="square" lIns="0" tIns="0" rIns="0" bIns="0" rtlCol="0" anchor="t"/>
          <a:lstStyle/>
          <a:p>
            <a:pPr algn="l" indent="0" marL="0">
              <a:buNone/>
            </a:pPr>
            <a:r>
              <a:rPr lang="en-US" sz="1700" b="1" dirty="0">
                <a:solidFill>
                  <a:srgbClr val="34D399"/>
                </a:solidFill>
                <a:latin typeface="Arial" pitchFamily="34" charset="0"/>
                <a:ea typeface="Arial" pitchFamily="34" charset="-122"/>
                <a:cs typeface="Arial" pitchFamily="34" charset="-120"/>
              </a:rPr>
              <a:t>The developer-experience case</a:t>
            </a:r>
            <a:endParaRPr lang="en-US" sz="1700" dirty="0"/>
          </a:p>
        </p:txBody>
      </p:sp>
      <p:sp>
        <p:nvSpPr>
          <p:cNvPr id="6" name="Shape 4"/>
          <p:cNvSpPr/>
          <p:nvPr/>
        </p:nvSpPr>
        <p:spPr>
          <a:xfrm>
            <a:off x="640080" y="2697480"/>
            <a:ext cx="5577840" cy="914400"/>
          </a:xfrm>
          <a:prstGeom prst="roundRect">
            <a:avLst>
              <a:gd name="adj" fmla="val 8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7" name="Shape 5"/>
          <p:cNvSpPr/>
          <p:nvPr/>
        </p:nvSpPr>
        <p:spPr>
          <a:xfrm>
            <a:off x="868680" y="2944368"/>
            <a:ext cx="420624" cy="420624"/>
          </a:xfrm>
          <a:prstGeom prst="ellipse">
            <a:avLst/>
          </a:prstGeom>
          <a:solidFill>
            <a:srgbClr val="243349"/>
          </a:solidFill>
          <a:ln w="12700">
            <a:solidFill>
              <a:srgbClr val="2B3A52"/>
            </a:solidFill>
            <a:prstDash val="solid"/>
          </a:ln>
        </p:spPr>
      </p:sp>
      <p:pic>
        <p:nvPicPr>
          <p:cNvPr id="8" name="Image 0" descr="preencoded.png">    </p:cNvPr>
          <p:cNvPicPr>
            <a:picLocks noChangeAspect="1"/>
          </p:cNvPicPr>
          <p:nvPr/>
        </p:nvPicPr>
        <p:blipFill>
          <a:blip r:embed="rId1"/>
          <a:stretch>
            <a:fillRect/>
          </a:stretch>
        </p:blipFill>
        <p:spPr>
          <a:xfrm>
            <a:off x="986455" y="3062143"/>
            <a:ext cx="185075" cy="185075"/>
          </a:xfrm>
          <a:prstGeom prst="rect">
            <a:avLst/>
          </a:prstGeom>
        </p:spPr>
      </p:pic>
      <p:sp>
        <p:nvSpPr>
          <p:cNvPr id="9" name="Text 6"/>
          <p:cNvSpPr/>
          <p:nvPr/>
        </p:nvSpPr>
        <p:spPr>
          <a:xfrm>
            <a:off x="1463040" y="2825496"/>
            <a:ext cx="4572000" cy="32004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Sub-second start + live reload</a:t>
            </a:r>
            <a:endParaRPr lang="en-US" sz="1450" dirty="0"/>
          </a:p>
        </p:txBody>
      </p:sp>
      <p:sp>
        <p:nvSpPr>
          <p:cNvPr id="10" name="Text 7"/>
          <p:cNvSpPr/>
          <p:nvPr/>
        </p:nvSpPr>
        <p:spPr>
          <a:xfrm>
            <a:off x="1463040" y="3154680"/>
            <a:ext cx="4572000" cy="411480"/>
          </a:xfrm>
          <a:prstGeom prst="rect">
            <a:avLst/>
          </a:prstGeom>
          <a:noFill/>
          <a:ln/>
        </p:spPr>
        <p:txBody>
          <a:bodyPr wrap="square" lIns="0" tIns="0" rIns="0" bIns="0" rtlCol="0" anchor="t"/>
          <a:lstStyle/>
          <a:p>
            <a:pPr algn="l" indent="0" marL="0">
              <a:buNone/>
            </a:pPr>
            <a:r>
              <a:rPr lang="en-US" sz="1200" dirty="0">
                <a:solidFill>
                  <a:srgbClr val="8294AE"/>
                </a:solidFill>
                <a:latin typeface="Calibri" pitchFamily="34" charset="0"/>
                <a:ea typeface="Calibri" pitchFamily="34" charset="-122"/>
                <a:cs typeface="Calibri" pitchFamily="34" charset="-120"/>
              </a:rPr>
              <a:t>Edit code, save, re-curl — the change is just there. This is what makes the live demo survive.</a:t>
            </a:r>
            <a:endParaRPr lang="en-US" sz="1200" dirty="0"/>
          </a:p>
        </p:txBody>
      </p:sp>
      <p:sp>
        <p:nvSpPr>
          <p:cNvPr id="11" name="Shape 8"/>
          <p:cNvSpPr/>
          <p:nvPr/>
        </p:nvSpPr>
        <p:spPr>
          <a:xfrm>
            <a:off x="640080" y="3721608"/>
            <a:ext cx="5577840" cy="914400"/>
          </a:xfrm>
          <a:prstGeom prst="roundRect">
            <a:avLst>
              <a:gd name="adj" fmla="val 8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2" name="Shape 9"/>
          <p:cNvSpPr/>
          <p:nvPr/>
        </p:nvSpPr>
        <p:spPr>
          <a:xfrm>
            <a:off x="868680" y="3968496"/>
            <a:ext cx="420624" cy="420624"/>
          </a:xfrm>
          <a:prstGeom prst="ellipse">
            <a:avLst/>
          </a:prstGeom>
          <a:solidFill>
            <a:srgbClr val="243349"/>
          </a:solidFill>
          <a:ln w="12700">
            <a:solidFill>
              <a:srgbClr val="2B3A52"/>
            </a:solidFill>
            <a:prstDash val="solid"/>
          </a:ln>
        </p:spPr>
      </p:sp>
      <p:pic>
        <p:nvPicPr>
          <p:cNvPr id="13" name="Image 1" descr="preencoded.png">    </p:cNvPr>
          <p:cNvPicPr>
            <a:picLocks noChangeAspect="1"/>
          </p:cNvPicPr>
          <p:nvPr/>
        </p:nvPicPr>
        <p:blipFill>
          <a:blip r:embed="rId2"/>
          <a:stretch>
            <a:fillRect/>
          </a:stretch>
        </p:blipFill>
        <p:spPr>
          <a:xfrm>
            <a:off x="986455" y="4086271"/>
            <a:ext cx="185075" cy="185075"/>
          </a:xfrm>
          <a:prstGeom prst="rect">
            <a:avLst/>
          </a:prstGeom>
        </p:spPr>
      </p:pic>
      <p:sp>
        <p:nvSpPr>
          <p:cNvPr id="14" name="Text 10"/>
          <p:cNvSpPr/>
          <p:nvPr/>
        </p:nvSpPr>
        <p:spPr>
          <a:xfrm>
            <a:off x="1463040" y="3849624"/>
            <a:ext cx="4572000" cy="32004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Familiar to JEE / Spring teams</a:t>
            </a:r>
            <a:endParaRPr lang="en-US" sz="1450" dirty="0"/>
          </a:p>
        </p:txBody>
      </p:sp>
      <p:sp>
        <p:nvSpPr>
          <p:cNvPr id="15" name="Text 11"/>
          <p:cNvSpPr/>
          <p:nvPr/>
        </p:nvSpPr>
        <p:spPr>
          <a:xfrm>
            <a:off x="1463040" y="4178808"/>
            <a:ext cx="4572000" cy="411480"/>
          </a:xfrm>
          <a:prstGeom prst="rect">
            <a:avLst/>
          </a:prstGeom>
          <a:noFill/>
          <a:ln/>
        </p:spPr>
        <p:txBody>
          <a:bodyPr wrap="square" lIns="0" tIns="0" rIns="0" bIns="0" rtlCol="0" anchor="t"/>
          <a:lstStyle/>
          <a:p>
            <a:pPr algn="l" indent="0" marL="0">
              <a:buNone/>
            </a:pPr>
            <a:r>
              <a:rPr lang="en-US" sz="1200" dirty="0">
                <a:solidFill>
                  <a:srgbClr val="8294AE"/>
                </a:solidFill>
                <a:latin typeface="Calibri" pitchFamily="34" charset="0"/>
                <a:ea typeface="Calibri" pitchFamily="34" charset="-122"/>
                <a:cs typeface="Calibri" pitchFamily="34" charset="-120"/>
              </a:rPr>
              <a:t>CDI, JAX-RS, the annotations you know. The migration path is short, not a rewrite.</a:t>
            </a:r>
            <a:endParaRPr lang="en-US" sz="1200" dirty="0"/>
          </a:p>
        </p:txBody>
      </p:sp>
      <p:sp>
        <p:nvSpPr>
          <p:cNvPr id="16" name="Shape 12"/>
          <p:cNvSpPr/>
          <p:nvPr/>
        </p:nvSpPr>
        <p:spPr>
          <a:xfrm>
            <a:off x="640080" y="4745736"/>
            <a:ext cx="5577840" cy="914400"/>
          </a:xfrm>
          <a:prstGeom prst="roundRect">
            <a:avLst>
              <a:gd name="adj" fmla="val 8000"/>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7" name="Shape 13"/>
          <p:cNvSpPr/>
          <p:nvPr/>
        </p:nvSpPr>
        <p:spPr>
          <a:xfrm>
            <a:off x="868680" y="4992624"/>
            <a:ext cx="420624" cy="420624"/>
          </a:xfrm>
          <a:prstGeom prst="ellipse">
            <a:avLst/>
          </a:prstGeom>
          <a:solidFill>
            <a:srgbClr val="243349"/>
          </a:solidFill>
          <a:ln w="12700">
            <a:solidFill>
              <a:srgbClr val="2B3A52"/>
            </a:solidFill>
            <a:prstDash val="solid"/>
          </a:ln>
        </p:spPr>
      </p:sp>
      <p:pic>
        <p:nvPicPr>
          <p:cNvPr id="18" name="Image 2" descr="preencoded.png">    </p:cNvPr>
          <p:cNvPicPr>
            <a:picLocks noChangeAspect="1"/>
          </p:cNvPicPr>
          <p:nvPr/>
        </p:nvPicPr>
        <p:blipFill>
          <a:blip r:embed="rId3"/>
          <a:stretch>
            <a:fillRect/>
          </a:stretch>
        </p:blipFill>
        <p:spPr>
          <a:xfrm>
            <a:off x="986455" y="5110399"/>
            <a:ext cx="185075" cy="185075"/>
          </a:xfrm>
          <a:prstGeom prst="rect">
            <a:avLst/>
          </a:prstGeom>
        </p:spPr>
      </p:pic>
      <p:sp>
        <p:nvSpPr>
          <p:cNvPr id="19" name="Text 14"/>
          <p:cNvSpPr/>
          <p:nvPr/>
        </p:nvSpPr>
        <p:spPr>
          <a:xfrm>
            <a:off x="1463040" y="4873752"/>
            <a:ext cx="4572000" cy="32004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Dev Services</a:t>
            </a:r>
            <a:endParaRPr lang="en-US" sz="1450" dirty="0"/>
          </a:p>
        </p:txBody>
      </p:sp>
      <p:sp>
        <p:nvSpPr>
          <p:cNvPr id="20" name="Text 15"/>
          <p:cNvSpPr/>
          <p:nvPr/>
        </p:nvSpPr>
        <p:spPr>
          <a:xfrm>
            <a:off x="1463040" y="5202936"/>
            <a:ext cx="4572000" cy="411480"/>
          </a:xfrm>
          <a:prstGeom prst="rect">
            <a:avLst/>
          </a:prstGeom>
          <a:noFill/>
          <a:ln/>
        </p:spPr>
        <p:txBody>
          <a:bodyPr wrap="square" lIns="0" tIns="0" rIns="0" bIns="0" rtlCol="0" anchor="t"/>
          <a:lstStyle/>
          <a:p>
            <a:pPr algn="l" indent="0" marL="0">
              <a:buNone/>
            </a:pPr>
            <a:r>
              <a:rPr lang="en-US" sz="1200" dirty="0">
                <a:solidFill>
                  <a:srgbClr val="8294AE"/>
                </a:solidFill>
                <a:latin typeface="Calibri" pitchFamily="34" charset="0"/>
                <a:ea typeface="Calibri" pitchFamily="34" charset="-122"/>
                <a:cs typeface="Calibri" pitchFamily="34" charset="-120"/>
              </a:rPr>
              <a:t>Spins up dependencies (databases, etc.) automatically in dev — less yak-shaving before you see output.</a:t>
            </a:r>
            <a:endParaRPr lang="en-US" sz="1200" dirty="0"/>
          </a:p>
        </p:txBody>
      </p:sp>
      <p:sp>
        <p:nvSpPr>
          <p:cNvPr id="21" name="Text 16"/>
          <p:cNvSpPr/>
          <p:nvPr/>
        </p:nvSpPr>
        <p:spPr>
          <a:xfrm>
            <a:off x="6675120" y="2240280"/>
            <a:ext cx="4876495" cy="365760"/>
          </a:xfrm>
          <a:prstGeom prst="rect">
            <a:avLst/>
          </a:prstGeom>
          <a:noFill/>
          <a:ln/>
        </p:spPr>
        <p:txBody>
          <a:bodyPr wrap="square" lIns="0" tIns="0" rIns="0" bIns="0" rtlCol="0" anchor="t"/>
          <a:lstStyle/>
          <a:p>
            <a:pPr algn="l" indent="0" marL="0">
              <a:buNone/>
            </a:pPr>
            <a:r>
              <a:rPr lang="en-US" sz="1700" b="1" dirty="0">
                <a:solidFill>
                  <a:srgbClr val="FBBF24"/>
                </a:solidFill>
                <a:latin typeface="Arial" pitchFamily="34" charset="0"/>
                <a:ea typeface="Arial" pitchFamily="34" charset="-122"/>
                <a:cs typeface="Arial" pitchFamily="34" charset="-120"/>
              </a:rPr>
              <a:t>Native image? Only if you need it</a:t>
            </a:r>
            <a:endParaRPr lang="en-US" sz="1700" dirty="0"/>
          </a:p>
        </p:txBody>
      </p:sp>
      <p:sp>
        <p:nvSpPr>
          <p:cNvPr id="22" name="Shape 17"/>
          <p:cNvSpPr/>
          <p:nvPr/>
        </p:nvSpPr>
        <p:spPr>
          <a:xfrm>
            <a:off x="6675120" y="2697480"/>
            <a:ext cx="4876495" cy="3072384"/>
          </a:xfrm>
          <a:prstGeom prst="roundRect">
            <a:avLst>
              <a:gd name="adj" fmla="val 267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3" name="Text 18"/>
          <p:cNvSpPr/>
          <p:nvPr/>
        </p:nvSpPr>
        <p:spPr>
          <a:xfrm>
            <a:off x="6949440" y="2926080"/>
            <a:ext cx="4327855" cy="2651760"/>
          </a:xfrm>
          <a:prstGeom prst="rect">
            <a:avLst/>
          </a:prstGeom>
          <a:noFill/>
          <a:ln/>
        </p:spPr>
        <p:txBody>
          <a:bodyPr wrap="square" lIns="0" tIns="0" rIns="0" bIns="0" rtlCol="0" anchor="t"/>
          <a:lstStyle/>
          <a:p>
            <a:pPr algn="l" indent="0" marL="0">
              <a:lnSpc>
                <a:spcPct val="110000"/>
              </a:lnSpc>
              <a:buNone/>
            </a:pPr>
            <a:r>
              <a:rPr lang="en-US" sz="1400" b="1" dirty="0">
                <a:solidFill>
                  <a:srgbClr val="34D399"/>
                </a:solidFill>
                <a:latin typeface="Calibri" pitchFamily="34" charset="0"/>
                <a:ea typeface="Calibri" pitchFamily="34" charset="-122"/>
                <a:cs typeface="Calibri" pitchFamily="34" charset="-120"/>
              </a:rPr>
              <a:t>JVM mode</a:t>
            </a:r>
            <a:pPr algn="l" indent="0" marL="0">
              <a:lnSpc>
                <a:spcPct val="110000"/>
              </a:lnSpc>
              <a:buNone/>
            </a:pPr>
            <a:r>
              <a:rPr lang="en-US" sz="1400" dirty="0">
                <a:solidFill>
                  <a:srgbClr val="CBD5E1"/>
                </a:solidFill>
                <a:latin typeface="Calibri" pitchFamily="34" charset="0"/>
                <a:ea typeface="Calibri" pitchFamily="34" charset="-122"/>
                <a:cs typeface="Calibri" pitchFamily="34" charset="-120"/>
              </a:rPr>
              <a:t>  — traditional JAR, standard OpenJDK. Faster to start than Spring Boot, and your </a:t>
            </a:r>
            <a:pPr algn="l" indent="0" marL="0">
              <a:lnSpc>
                <a:spcPct val="110000"/>
              </a:lnSpc>
              <a:buNone/>
            </a:pPr>
            <a:r>
              <a:rPr lang="en-US" sz="1400" dirty="0">
                <a:solidFill>
                  <a:srgbClr val="34D399"/>
                </a:solidFill>
                <a:latin typeface="Calibri" pitchFamily="34" charset="0"/>
                <a:ea typeface="Calibri" pitchFamily="34" charset="-122"/>
                <a:cs typeface="Calibri" pitchFamily="34" charset="-120"/>
              </a:rPr>
              <a:t>Elastic APM agent attaches exactly as it does today.</a:t>
            </a:r>
            <a:pPr algn="l" indent="0" marL="0">
              <a:lnSpc>
                <a:spcPct val="110000"/>
              </a:lnSpc>
              <a:buNone/>
            </a:pPr>
            <a:r>
              <a:rPr lang="en-US" sz="1400" b="1" dirty="0">
                <a:solidFill>
                  <a:srgbClr val="FFFFFF"/>
                </a:solidFill>
                <a:latin typeface="Calibri" pitchFamily="34" charset="0"/>
                <a:ea typeface="Calibri" pitchFamily="34" charset="-122"/>
                <a:cs typeface="Calibri" pitchFamily="34" charset="-120"/>
              </a:rPr>
              <a:t>  Ship this.</a:t>
            </a:r>
            <a:endParaRPr lang="en-US" sz="1400" dirty="0"/>
          </a:p>
          <a:p>
            <a:pPr algn="l" indent="0" marL="0">
              <a:lnSpc>
                <a:spcPct val="110000"/>
              </a:lnSpc>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algn="l" indent="0" marL="0">
              <a:lnSpc>
                <a:spcPct val="110000"/>
              </a:lnSpc>
              <a:buNone/>
            </a:pPr>
            <a:r>
              <a:rPr lang="en-US" sz="1400" b="1" dirty="0">
                <a:solidFill>
                  <a:srgbClr val="FBBF24"/>
                </a:solidFill>
                <a:latin typeface="Calibri" pitchFamily="34" charset="0"/>
                <a:ea typeface="Calibri" pitchFamily="34" charset="-122"/>
                <a:cs typeface="Calibri" pitchFamily="34" charset="-120"/>
              </a:rPr>
              <a:t>Native image</a:t>
            </a:r>
            <a:pPr algn="l" indent="0" marL="0">
              <a:lnSpc>
                <a:spcPct val="110000"/>
              </a:lnSpc>
              <a:buNone/>
            </a:pPr>
            <a:r>
              <a:rPr lang="en-US" sz="1400" dirty="0">
                <a:solidFill>
                  <a:srgbClr val="CBD5E1"/>
                </a:solidFill>
                <a:latin typeface="Calibri" pitchFamily="34" charset="0"/>
                <a:ea typeface="Calibri" pitchFamily="34" charset="-122"/>
                <a:cs typeface="Calibri" pitchFamily="34" charset="-120"/>
              </a:rPr>
              <a:t>  — ~50 ms start, tiny memory, for serverless / aggressive autoscaling. Trades away the APM Java agent (use OpenTelemetry instead) and easy JVM debugging.</a:t>
            </a:r>
            <a:endParaRPr lang="en-US" sz="1400" dirty="0"/>
          </a:p>
        </p:txBody>
      </p:sp>
      <p:sp>
        <p:nvSpPr>
          <p:cNvPr id="25" name="Text 19"/>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6" name="Text 20"/>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the architecture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The whole thing fits on one slide</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08</a:t>
            </a:r>
            <a:endParaRPr lang="en-US" sz="4000" dirty="0"/>
          </a:p>
        </p:txBody>
      </p:sp>
      <p:sp>
        <p:nvSpPr>
          <p:cNvPr id="5" name="Shape 3"/>
          <p:cNvSpPr/>
          <p:nvPr/>
        </p:nvSpPr>
        <p:spPr>
          <a:xfrm>
            <a:off x="640080" y="2468880"/>
            <a:ext cx="2286000" cy="1051560"/>
          </a:xfrm>
          <a:prstGeom prst="roundRect">
            <a:avLst>
              <a:gd name="adj" fmla="val 6957"/>
            </a:avLst>
          </a:prstGeom>
          <a:solidFill>
            <a:srgbClr val="1E293B"/>
          </a:solidFill>
          <a:ln w="19050">
            <a:solidFill>
              <a:srgbClr val="CBD5E1"/>
            </a:solidFill>
            <a:prstDash val="solid"/>
          </a:ln>
          <a:effectLst>
            <a:outerShdw sx="100000" sy="100000" kx="0" ky="0" algn="bl" rotWithShape="0" blurRad="114300" dist="38100" dir="5400000">
              <a:srgbClr val="000000">
                <a:alpha val="28000"/>
              </a:srgbClr>
            </a:outerShdw>
          </a:effectLst>
        </p:spPr>
      </p:sp>
      <p:pic>
        <p:nvPicPr>
          <p:cNvPr id="6" name="Image 0" descr="preencoded.png">    </p:cNvPr>
          <p:cNvPicPr>
            <a:picLocks noChangeAspect="1"/>
          </p:cNvPicPr>
          <p:nvPr/>
        </p:nvPicPr>
        <p:blipFill>
          <a:blip r:embed="rId1"/>
          <a:stretch>
            <a:fillRect/>
          </a:stretch>
        </p:blipFill>
        <p:spPr>
          <a:xfrm>
            <a:off x="841248" y="2775204"/>
            <a:ext cx="438912" cy="438912"/>
          </a:xfrm>
          <a:prstGeom prst="rect">
            <a:avLst/>
          </a:prstGeom>
        </p:spPr>
      </p:pic>
      <p:sp>
        <p:nvSpPr>
          <p:cNvPr id="7" name="Text 4"/>
          <p:cNvSpPr/>
          <p:nvPr/>
        </p:nvSpPr>
        <p:spPr>
          <a:xfrm>
            <a:off x="1417320" y="2615184"/>
            <a:ext cx="1371600"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Browser / curl</a:t>
            </a:r>
            <a:endParaRPr lang="en-US" sz="1450" dirty="0"/>
          </a:p>
        </p:txBody>
      </p:sp>
      <p:sp>
        <p:nvSpPr>
          <p:cNvPr id="8" name="Text 5"/>
          <p:cNvSpPr/>
          <p:nvPr/>
        </p:nvSpPr>
        <p:spPr>
          <a:xfrm>
            <a:off x="1417320" y="2980944"/>
            <a:ext cx="1371600"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POST /ask/*</a:t>
            </a:r>
            <a:endParaRPr lang="en-US" sz="1050" dirty="0"/>
          </a:p>
        </p:txBody>
      </p:sp>
      <p:sp>
        <p:nvSpPr>
          <p:cNvPr id="9" name="Shape 6"/>
          <p:cNvSpPr/>
          <p:nvPr/>
        </p:nvSpPr>
        <p:spPr>
          <a:xfrm>
            <a:off x="2926080" y="2990088"/>
            <a:ext cx="457200" cy="0"/>
          </a:xfrm>
          <a:prstGeom prst="line">
            <a:avLst/>
          </a:prstGeom>
          <a:noFill/>
          <a:ln w="19050">
            <a:solidFill>
              <a:srgbClr val="8294AE"/>
            </a:solidFill>
            <a:prstDash val="solid"/>
            <a:tailEnd type="triangle"/>
          </a:ln>
        </p:spPr>
      </p:sp>
      <p:sp>
        <p:nvSpPr>
          <p:cNvPr id="10" name="Shape 7"/>
          <p:cNvSpPr/>
          <p:nvPr/>
        </p:nvSpPr>
        <p:spPr>
          <a:xfrm>
            <a:off x="3383280" y="2468880"/>
            <a:ext cx="2468880" cy="1051560"/>
          </a:xfrm>
          <a:prstGeom prst="roundRect">
            <a:avLst>
              <a:gd name="adj" fmla="val 6957"/>
            </a:avLst>
          </a:prstGeom>
          <a:solidFill>
            <a:srgbClr val="1E293B"/>
          </a:solidFill>
          <a:ln w="19050">
            <a:solidFill>
              <a:srgbClr val="FF4D6A"/>
            </a:solidFill>
            <a:prstDash val="solid"/>
          </a:ln>
          <a:effectLst>
            <a:outerShdw sx="100000" sy="100000" kx="0" ky="0" algn="bl" rotWithShape="0" blurRad="114300" dist="38100" dir="5400000">
              <a:srgbClr val="000000">
                <a:alpha val="28000"/>
              </a:srgbClr>
            </a:outerShdw>
          </a:effectLst>
        </p:spPr>
      </p:sp>
      <p:pic>
        <p:nvPicPr>
          <p:cNvPr id="11" name="Image 1" descr="preencoded.png">    </p:cNvPr>
          <p:cNvPicPr>
            <a:picLocks noChangeAspect="1"/>
          </p:cNvPicPr>
          <p:nvPr/>
        </p:nvPicPr>
        <p:blipFill>
          <a:blip r:embed="rId2"/>
          <a:stretch>
            <a:fillRect/>
          </a:stretch>
        </p:blipFill>
        <p:spPr>
          <a:xfrm>
            <a:off x="3584448" y="2775204"/>
            <a:ext cx="438912" cy="438912"/>
          </a:xfrm>
          <a:prstGeom prst="rect">
            <a:avLst/>
          </a:prstGeom>
        </p:spPr>
      </p:pic>
      <p:sp>
        <p:nvSpPr>
          <p:cNvPr id="12" name="Text 8"/>
          <p:cNvSpPr/>
          <p:nvPr/>
        </p:nvSpPr>
        <p:spPr>
          <a:xfrm>
            <a:off x="4160520" y="2615184"/>
            <a:ext cx="1554480"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Quarkus REST</a:t>
            </a:r>
            <a:endParaRPr lang="en-US" sz="1450" dirty="0"/>
          </a:p>
        </p:txBody>
      </p:sp>
      <p:sp>
        <p:nvSpPr>
          <p:cNvPr id="13" name="Text 9"/>
          <p:cNvSpPr/>
          <p:nvPr/>
        </p:nvSpPr>
        <p:spPr>
          <a:xfrm>
            <a:off x="4160520" y="2980944"/>
            <a:ext cx="1554480"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JAX-RS resource</a:t>
            </a:r>
            <a:endParaRPr lang="en-US" sz="1050" dirty="0"/>
          </a:p>
        </p:txBody>
      </p:sp>
      <p:sp>
        <p:nvSpPr>
          <p:cNvPr id="14" name="Shape 10"/>
          <p:cNvSpPr/>
          <p:nvPr/>
        </p:nvSpPr>
        <p:spPr>
          <a:xfrm>
            <a:off x="5852160" y="2990088"/>
            <a:ext cx="457200" cy="0"/>
          </a:xfrm>
          <a:prstGeom prst="line">
            <a:avLst/>
          </a:prstGeom>
          <a:noFill/>
          <a:ln w="19050">
            <a:solidFill>
              <a:srgbClr val="8294AE"/>
            </a:solidFill>
            <a:prstDash val="solid"/>
            <a:tailEnd type="triangle"/>
          </a:ln>
        </p:spPr>
      </p:sp>
      <p:sp>
        <p:nvSpPr>
          <p:cNvPr id="15" name="Shape 11"/>
          <p:cNvSpPr/>
          <p:nvPr/>
        </p:nvSpPr>
        <p:spPr>
          <a:xfrm>
            <a:off x="6309360" y="2468880"/>
            <a:ext cx="2651760" cy="1051560"/>
          </a:xfrm>
          <a:prstGeom prst="roundRect">
            <a:avLst>
              <a:gd name="adj" fmla="val 6957"/>
            </a:avLst>
          </a:prstGeom>
          <a:solidFill>
            <a:srgbClr val="1E293B"/>
          </a:solidFill>
          <a:ln w="19050">
            <a:solidFill>
              <a:srgbClr val="34D399"/>
            </a:solidFill>
            <a:prstDash val="solid"/>
          </a:ln>
          <a:effectLst>
            <a:outerShdw sx="100000" sy="100000" kx="0" ky="0" algn="bl" rotWithShape="0" blurRad="114300" dist="38100" dir="5400000">
              <a:srgbClr val="000000">
                <a:alpha val="28000"/>
              </a:srgbClr>
            </a:outerShdw>
          </a:effectLst>
        </p:spPr>
      </p:sp>
      <p:pic>
        <p:nvPicPr>
          <p:cNvPr id="16" name="Image 2" descr="preencoded.png">    </p:cNvPr>
          <p:cNvPicPr>
            <a:picLocks noChangeAspect="1"/>
          </p:cNvPicPr>
          <p:nvPr/>
        </p:nvPicPr>
        <p:blipFill>
          <a:blip r:embed="rId3"/>
          <a:stretch>
            <a:fillRect/>
          </a:stretch>
        </p:blipFill>
        <p:spPr>
          <a:xfrm>
            <a:off x="6510528" y="2775204"/>
            <a:ext cx="438912" cy="438912"/>
          </a:xfrm>
          <a:prstGeom prst="rect">
            <a:avLst/>
          </a:prstGeom>
        </p:spPr>
      </p:pic>
      <p:sp>
        <p:nvSpPr>
          <p:cNvPr id="17" name="Text 12"/>
          <p:cNvSpPr/>
          <p:nvPr/>
        </p:nvSpPr>
        <p:spPr>
          <a:xfrm>
            <a:off x="7086600" y="2615184"/>
            <a:ext cx="1737360"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LangChain4j AiService</a:t>
            </a:r>
            <a:endParaRPr lang="en-US" sz="1450" dirty="0"/>
          </a:p>
        </p:txBody>
      </p:sp>
      <p:sp>
        <p:nvSpPr>
          <p:cNvPr id="18" name="Text 13"/>
          <p:cNvSpPr/>
          <p:nvPr/>
        </p:nvSpPr>
        <p:spPr>
          <a:xfrm>
            <a:off x="7086600" y="2980944"/>
            <a:ext cx="1737360"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@RegisterAiService</a:t>
            </a:r>
            <a:endParaRPr lang="en-US" sz="1050" dirty="0"/>
          </a:p>
        </p:txBody>
      </p:sp>
      <p:sp>
        <p:nvSpPr>
          <p:cNvPr id="19" name="Shape 14"/>
          <p:cNvSpPr/>
          <p:nvPr/>
        </p:nvSpPr>
        <p:spPr>
          <a:xfrm>
            <a:off x="7635240" y="3520440"/>
            <a:ext cx="0" cy="502920"/>
          </a:xfrm>
          <a:prstGeom prst="line">
            <a:avLst/>
          </a:prstGeom>
          <a:noFill/>
          <a:ln w="19050">
            <a:solidFill>
              <a:srgbClr val="8294AE"/>
            </a:solidFill>
            <a:prstDash val="solid"/>
            <a:tailEnd type="triangle"/>
          </a:ln>
        </p:spPr>
      </p:sp>
      <p:sp>
        <p:nvSpPr>
          <p:cNvPr id="20" name="Shape 15"/>
          <p:cNvSpPr/>
          <p:nvPr/>
        </p:nvSpPr>
        <p:spPr>
          <a:xfrm>
            <a:off x="3383280" y="4251960"/>
            <a:ext cx="2651760" cy="1051560"/>
          </a:xfrm>
          <a:prstGeom prst="roundRect">
            <a:avLst>
              <a:gd name="adj" fmla="val 6957"/>
            </a:avLst>
          </a:prstGeom>
          <a:solidFill>
            <a:srgbClr val="1E293B"/>
          </a:solidFill>
          <a:ln w="19050">
            <a:solidFill>
              <a:srgbClr val="34D399"/>
            </a:solidFill>
            <a:prstDash val="solid"/>
          </a:ln>
          <a:effectLst>
            <a:outerShdw sx="100000" sy="100000" kx="0" ky="0" algn="bl" rotWithShape="0" blurRad="114300" dist="38100" dir="5400000">
              <a:srgbClr val="000000">
                <a:alpha val="28000"/>
              </a:srgbClr>
            </a:outerShdw>
          </a:effectLst>
        </p:spPr>
      </p:sp>
      <p:pic>
        <p:nvPicPr>
          <p:cNvPr id="21" name="Image 3" descr="preencoded.png">    </p:cNvPr>
          <p:cNvPicPr>
            <a:picLocks noChangeAspect="1"/>
          </p:cNvPicPr>
          <p:nvPr/>
        </p:nvPicPr>
        <p:blipFill>
          <a:blip r:embed="rId4"/>
          <a:stretch>
            <a:fillRect/>
          </a:stretch>
        </p:blipFill>
        <p:spPr>
          <a:xfrm>
            <a:off x="3584448" y="4558284"/>
            <a:ext cx="438912" cy="438912"/>
          </a:xfrm>
          <a:prstGeom prst="rect">
            <a:avLst/>
          </a:prstGeom>
        </p:spPr>
      </p:pic>
      <p:sp>
        <p:nvSpPr>
          <p:cNvPr id="22" name="Text 16"/>
          <p:cNvSpPr/>
          <p:nvPr/>
        </p:nvSpPr>
        <p:spPr>
          <a:xfrm>
            <a:off x="4160520" y="4398264"/>
            <a:ext cx="1737360"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Retrieval Augmentor</a:t>
            </a:r>
            <a:endParaRPr lang="en-US" sz="1450" dirty="0"/>
          </a:p>
        </p:txBody>
      </p:sp>
      <p:sp>
        <p:nvSpPr>
          <p:cNvPr id="23" name="Text 17"/>
          <p:cNvSpPr/>
          <p:nvPr/>
        </p:nvSpPr>
        <p:spPr>
          <a:xfrm>
            <a:off x="4160520" y="4764024"/>
            <a:ext cx="1737360"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retrieve + inject</a:t>
            </a:r>
            <a:endParaRPr lang="en-US" sz="1050" dirty="0"/>
          </a:p>
        </p:txBody>
      </p:sp>
      <p:sp>
        <p:nvSpPr>
          <p:cNvPr id="24" name="Shape 18"/>
          <p:cNvSpPr/>
          <p:nvPr/>
        </p:nvSpPr>
        <p:spPr>
          <a:xfrm>
            <a:off x="6035040" y="4773168"/>
            <a:ext cx="457200" cy="0"/>
          </a:xfrm>
          <a:prstGeom prst="line">
            <a:avLst/>
          </a:prstGeom>
          <a:noFill/>
          <a:ln w="19050">
            <a:solidFill>
              <a:srgbClr val="8294AE"/>
            </a:solidFill>
            <a:prstDash val="solid"/>
            <a:tailEnd type="triangle"/>
          </a:ln>
        </p:spPr>
      </p:sp>
      <p:sp>
        <p:nvSpPr>
          <p:cNvPr id="25" name="Shape 19"/>
          <p:cNvSpPr/>
          <p:nvPr/>
        </p:nvSpPr>
        <p:spPr>
          <a:xfrm>
            <a:off x="6492240" y="4251960"/>
            <a:ext cx="2834640" cy="1051560"/>
          </a:xfrm>
          <a:prstGeom prst="roundRect">
            <a:avLst>
              <a:gd name="adj" fmla="val 6957"/>
            </a:avLst>
          </a:prstGeom>
          <a:solidFill>
            <a:srgbClr val="1E293B"/>
          </a:solidFill>
          <a:ln w="19050">
            <a:solidFill>
              <a:srgbClr val="FBBF24"/>
            </a:solidFill>
            <a:prstDash val="solid"/>
          </a:ln>
          <a:effectLst>
            <a:outerShdw sx="100000" sy="100000" kx="0" ky="0" algn="bl" rotWithShape="0" blurRad="114300" dist="38100" dir="5400000">
              <a:srgbClr val="000000">
                <a:alpha val="28000"/>
              </a:srgbClr>
            </a:outerShdw>
          </a:effectLst>
        </p:spPr>
      </p:sp>
      <p:pic>
        <p:nvPicPr>
          <p:cNvPr id="26" name="Image 4" descr="preencoded.png">    </p:cNvPr>
          <p:cNvPicPr>
            <a:picLocks noChangeAspect="1"/>
          </p:cNvPicPr>
          <p:nvPr/>
        </p:nvPicPr>
        <p:blipFill>
          <a:blip r:embed="rId5"/>
          <a:stretch>
            <a:fillRect/>
          </a:stretch>
        </p:blipFill>
        <p:spPr>
          <a:xfrm>
            <a:off x="6693408" y="4558284"/>
            <a:ext cx="438912" cy="438912"/>
          </a:xfrm>
          <a:prstGeom prst="rect">
            <a:avLst/>
          </a:prstGeom>
        </p:spPr>
      </p:pic>
      <p:sp>
        <p:nvSpPr>
          <p:cNvPr id="27" name="Text 20"/>
          <p:cNvSpPr/>
          <p:nvPr/>
        </p:nvSpPr>
        <p:spPr>
          <a:xfrm>
            <a:off x="7269480" y="4398264"/>
            <a:ext cx="1920240"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Embedding store</a:t>
            </a:r>
            <a:endParaRPr lang="en-US" sz="1450" dirty="0"/>
          </a:p>
        </p:txBody>
      </p:sp>
      <p:sp>
        <p:nvSpPr>
          <p:cNvPr id="28" name="Text 21"/>
          <p:cNvSpPr/>
          <p:nvPr/>
        </p:nvSpPr>
        <p:spPr>
          <a:xfrm>
            <a:off x="7269480" y="4764024"/>
            <a:ext cx="1920240"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in-memory · pgvector</a:t>
            </a:r>
            <a:endParaRPr lang="en-US" sz="1050" dirty="0"/>
          </a:p>
        </p:txBody>
      </p:sp>
      <p:sp>
        <p:nvSpPr>
          <p:cNvPr id="29" name="Shape 22"/>
          <p:cNvSpPr/>
          <p:nvPr/>
        </p:nvSpPr>
        <p:spPr>
          <a:xfrm>
            <a:off x="9235440" y="2468880"/>
            <a:ext cx="2316175" cy="1051560"/>
          </a:xfrm>
          <a:prstGeom prst="roundRect">
            <a:avLst>
              <a:gd name="adj" fmla="val 6957"/>
            </a:avLst>
          </a:prstGeom>
          <a:solidFill>
            <a:srgbClr val="1E293B"/>
          </a:solidFill>
          <a:ln w="19050">
            <a:solidFill>
              <a:srgbClr val="FF4D6A"/>
            </a:solidFill>
            <a:prstDash val="solid"/>
          </a:ln>
          <a:effectLst>
            <a:outerShdw sx="100000" sy="100000" kx="0" ky="0" algn="bl" rotWithShape="0" blurRad="114300" dist="38100" dir="5400000">
              <a:srgbClr val="000000">
                <a:alpha val="28000"/>
              </a:srgbClr>
            </a:outerShdw>
          </a:effectLst>
        </p:spPr>
      </p:sp>
      <p:pic>
        <p:nvPicPr>
          <p:cNvPr id="30" name="Image 5" descr="preencoded.png">    </p:cNvPr>
          <p:cNvPicPr>
            <a:picLocks noChangeAspect="1"/>
          </p:cNvPicPr>
          <p:nvPr/>
        </p:nvPicPr>
        <p:blipFill>
          <a:blip r:embed="rId6"/>
          <a:stretch>
            <a:fillRect/>
          </a:stretch>
        </p:blipFill>
        <p:spPr>
          <a:xfrm>
            <a:off x="9436608" y="2775204"/>
            <a:ext cx="438912" cy="438912"/>
          </a:xfrm>
          <a:prstGeom prst="rect">
            <a:avLst/>
          </a:prstGeom>
        </p:spPr>
      </p:pic>
      <p:sp>
        <p:nvSpPr>
          <p:cNvPr id="31" name="Text 23"/>
          <p:cNvSpPr/>
          <p:nvPr/>
        </p:nvSpPr>
        <p:spPr>
          <a:xfrm>
            <a:off x="10012680" y="2615184"/>
            <a:ext cx="1401775"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LLM provider</a:t>
            </a:r>
            <a:endParaRPr lang="en-US" sz="1450" dirty="0"/>
          </a:p>
        </p:txBody>
      </p:sp>
      <p:sp>
        <p:nvSpPr>
          <p:cNvPr id="32" name="Text 24"/>
          <p:cNvSpPr/>
          <p:nvPr/>
        </p:nvSpPr>
        <p:spPr>
          <a:xfrm>
            <a:off x="10012680" y="2980944"/>
            <a:ext cx="1401775"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OpenAI · Azure · Ollama</a:t>
            </a:r>
            <a:endParaRPr lang="en-US" sz="1050" dirty="0"/>
          </a:p>
        </p:txBody>
      </p:sp>
      <p:sp>
        <p:nvSpPr>
          <p:cNvPr id="33" name="Shape 25"/>
          <p:cNvSpPr/>
          <p:nvPr/>
        </p:nvSpPr>
        <p:spPr>
          <a:xfrm>
            <a:off x="8961120" y="2990088"/>
            <a:ext cx="274320" cy="0"/>
          </a:xfrm>
          <a:prstGeom prst="line">
            <a:avLst/>
          </a:prstGeom>
          <a:noFill/>
          <a:ln w="19050">
            <a:solidFill>
              <a:srgbClr val="8294AE"/>
            </a:solidFill>
            <a:prstDash val="solid"/>
            <a:tailEnd type="triangle"/>
          </a:ln>
        </p:spPr>
      </p:sp>
      <p:sp>
        <p:nvSpPr>
          <p:cNvPr id="34" name="Shape 26"/>
          <p:cNvSpPr/>
          <p:nvPr/>
        </p:nvSpPr>
        <p:spPr>
          <a:xfrm>
            <a:off x="9509760" y="4251960"/>
            <a:ext cx="2041855" cy="1051560"/>
          </a:xfrm>
          <a:prstGeom prst="roundRect">
            <a:avLst>
              <a:gd name="adj" fmla="val 6957"/>
            </a:avLst>
          </a:prstGeom>
          <a:solidFill>
            <a:srgbClr val="1E293B"/>
          </a:solidFill>
          <a:ln w="19050">
            <a:solidFill>
              <a:srgbClr val="CBD5E1"/>
            </a:solidFill>
            <a:prstDash val="solid"/>
          </a:ln>
          <a:effectLst>
            <a:outerShdw sx="100000" sy="100000" kx="0" ky="0" algn="bl" rotWithShape="0" blurRad="114300" dist="38100" dir="5400000">
              <a:srgbClr val="000000">
                <a:alpha val="28000"/>
              </a:srgbClr>
            </a:outerShdw>
          </a:effectLst>
        </p:spPr>
      </p:sp>
      <p:pic>
        <p:nvPicPr>
          <p:cNvPr id="35" name="Image 6" descr="preencoded.png">    </p:cNvPr>
          <p:cNvPicPr>
            <a:picLocks noChangeAspect="1"/>
          </p:cNvPicPr>
          <p:nvPr/>
        </p:nvPicPr>
        <p:blipFill>
          <a:blip r:embed="rId7"/>
          <a:stretch>
            <a:fillRect/>
          </a:stretch>
        </p:blipFill>
        <p:spPr>
          <a:xfrm>
            <a:off x="9710928" y="4558284"/>
            <a:ext cx="438912" cy="438912"/>
          </a:xfrm>
          <a:prstGeom prst="rect">
            <a:avLst/>
          </a:prstGeom>
        </p:spPr>
      </p:pic>
      <p:sp>
        <p:nvSpPr>
          <p:cNvPr id="36" name="Text 27"/>
          <p:cNvSpPr/>
          <p:nvPr/>
        </p:nvSpPr>
        <p:spPr>
          <a:xfrm>
            <a:off x="10287000" y="4398264"/>
            <a:ext cx="1127455" cy="365760"/>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Newsletter PDFs</a:t>
            </a:r>
            <a:endParaRPr lang="en-US" sz="1450" dirty="0"/>
          </a:p>
        </p:txBody>
      </p:sp>
      <p:sp>
        <p:nvSpPr>
          <p:cNvPr id="37" name="Text 28"/>
          <p:cNvSpPr/>
          <p:nvPr/>
        </p:nvSpPr>
        <p:spPr>
          <a:xfrm>
            <a:off x="10287000" y="4764024"/>
            <a:ext cx="1127455" cy="457200"/>
          </a:xfrm>
          <a:prstGeom prst="rect">
            <a:avLst/>
          </a:prstGeom>
          <a:noFill/>
          <a:ln/>
        </p:spPr>
        <p:txBody>
          <a:bodyPr wrap="square" lIns="0" tIns="0" rIns="0" bIns="0" rtlCol="0" anchor="t"/>
          <a:lstStyle/>
          <a:p>
            <a:pPr algn="l" indent="0" marL="0">
              <a:buNone/>
            </a:pPr>
            <a:r>
              <a:rPr lang="en-US" sz="1050" dirty="0">
                <a:solidFill>
                  <a:srgbClr val="8294AE"/>
                </a:solidFill>
                <a:latin typeface="Courier New" pitchFamily="34" charset="0"/>
                <a:ea typeface="Courier New" pitchFamily="34" charset="-122"/>
                <a:cs typeface="Courier New" pitchFamily="34" charset="-120"/>
              </a:rPr>
              <a:t>src/main/resources/rag</a:t>
            </a:r>
            <a:endParaRPr lang="en-US" sz="1050" dirty="0"/>
          </a:p>
        </p:txBody>
      </p:sp>
      <p:sp>
        <p:nvSpPr>
          <p:cNvPr id="38" name="Shape 29"/>
          <p:cNvSpPr/>
          <p:nvPr/>
        </p:nvSpPr>
        <p:spPr>
          <a:xfrm>
            <a:off x="9326880" y="4773168"/>
            <a:ext cx="182880" cy="0"/>
          </a:xfrm>
          <a:prstGeom prst="line">
            <a:avLst/>
          </a:prstGeom>
          <a:noFill/>
          <a:ln w="19050">
            <a:solidFill>
              <a:srgbClr val="8294AE"/>
            </a:solidFill>
            <a:prstDash val="solid"/>
            <a:tailEnd type="triangle"/>
          </a:ln>
        </p:spPr>
      </p:sp>
      <p:sp>
        <p:nvSpPr>
          <p:cNvPr id="39" name="Shape 30"/>
          <p:cNvSpPr/>
          <p:nvPr/>
        </p:nvSpPr>
        <p:spPr>
          <a:xfrm>
            <a:off x="640080" y="5669280"/>
            <a:ext cx="10911535" cy="822960"/>
          </a:xfrm>
          <a:prstGeom prst="roundRect">
            <a:avLst>
              <a:gd name="adj" fmla="val 8889"/>
            </a:avLst>
          </a:prstGeom>
          <a:solidFill>
            <a:srgbClr val="16202F"/>
          </a:solidFill>
          <a:ln w="12700">
            <a:solidFill>
              <a:srgbClr val="2B3A52"/>
            </a:solidFill>
            <a:prstDash val="solid"/>
          </a:ln>
        </p:spPr>
      </p:sp>
      <p:pic>
        <p:nvPicPr>
          <p:cNvPr id="40" name="Image 7" descr="preencoded.png">    </p:cNvPr>
          <p:cNvPicPr>
            <a:picLocks noChangeAspect="1"/>
          </p:cNvPicPr>
          <p:nvPr/>
        </p:nvPicPr>
        <p:blipFill>
          <a:blip r:embed="rId8"/>
          <a:stretch>
            <a:fillRect/>
          </a:stretch>
        </p:blipFill>
        <p:spPr>
          <a:xfrm>
            <a:off x="914400" y="5879592"/>
            <a:ext cx="411480" cy="411480"/>
          </a:xfrm>
          <a:prstGeom prst="rect">
            <a:avLst/>
          </a:prstGeom>
        </p:spPr>
      </p:pic>
      <p:sp>
        <p:nvSpPr>
          <p:cNvPr id="41" name="Text 31"/>
          <p:cNvSpPr/>
          <p:nvPr/>
        </p:nvSpPr>
        <p:spPr>
          <a:xfrm>
            <a:off x="1508760" y="5669280"/>
            <a:ext cx="9814255" cy="822960"/>
          </a:xfrm>
          <a:prstGeom prst="rect">
            <a:avLst/>
          </a:prstGeom>
          <a:noFill/>
          <a:ln/>
        </p:spPr>
        <p:txBody>
          <a:bodyPr wrap="square" lIns="0" tIns="0" rIns="0" bIns="0" rtlCol="0" anchor="ctr"/>
          <a:lstStyle/>
          <a:p>
            <a:pPr algn="l" indent="0" marL="0">
              <a:buNone/>
            </a:pPr>
            <a:r>
              <a:rPr lang="en-US" sz="1300" b="1" dirty="0">
                <a:solidFill>
                  <a:srgbClr val="CBD5E1"/>
                </a:solidFill>
                <a:latin typeface="Calibri" pitchFamily="34" charset="0"/>
                <a:ea typeface="Calibri" pitchFamily="34" charset="-122"/>
                <a:cs typeface="Calibri" pitchFamily="34" charset="-120"/>
              </a:rPr>
              <a:t>Wrapped by the JVM, watched by your Elastic APM agent.  </a:t>
            </a:r>
            <a:pPr algn="l" indent="0" marL="0">
              <a:buNone/>
            </a:pPr>
            <a:r>
              <a:rPr lang="en-US" sz="1300" dirty="0">
                <a:solidFill>
                  <a:srgbClr val="8294AE"/>
                </a:solidFill>
                <a:latin typeface="Calibri" pitchFamily="34" charset="0"/>
                <a:ea typeface="Calibri" pitchFamily="34" charset="-122"/>
                <a:cs typeface="Calibri" pitchFamily="34" charset="-120"/>
              </a:rPr>
              <a:t>Every box above is a traced span — no new observability stack required.</a:t>
            </a:r>
            <a:endParaRPr lang="en-US" sz="1300" dirty="0"/>
          </a:p>
        </p:txBody>
      </p:sp>
      <p:sp>
        <p:nvSpPr>
          <p:cNvPr id="43" name="Text 32"/>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44" name="Text 33"/>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the code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An AI service is an interface. That's the whole ceremony.</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09</a:t>
            </a:r>
            <a:endParaRPr lang="en-US" sz="4000" dirty="0"/>
          </a:p>
        </p:txBody>
      </p:sp>
      <p:sp>
        <p:nvSpPr>
          <p:cNvPr id="5" name="Shape 3"/>
          <p:cNvSpPr/>
          <p:nvPr/>
        </p:nvSpPr>
        <p:spPr>
          <a:xfrm>
            <a:off x="640080" y="2240280"/>
            <a:ext cx="5852160" cy="3383280"/>
          </a:xfrm>
          <a:prstGeom prst="roundRect">
            <a:avLst>
              <a:gd name="adj" fmla="val 1622"/>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841248" y="2423160"/>
            <a:ext cx="109728" cy="109728"/>
          </a:xfrm>
          <a:prstGeom prst="ellipse">
            <a:avLst/>
          </a:prstGeom>
          <a:solidFill>
            <a:srgbClr val="FF5F57"/>
          </a:solidFill>
          <a:ln/>
        </p:spPr>
      </p:sp>
      <p:sp>
        <p:nvSpPr>
          <p:cNvPr id="7" name="Shape 5"/>
          <p:cNvSpPr/>
          <p:nvPr/>
        </p:nvSpPr>
        <p:spPr>
          <a:xfrm>
            <a:off x="1024128" y="2423160"/>
            <a:ext cx="109728" cy="109728"/>
          </a:xfrm>
          <a:prstGeom prst="ellipse">
            <a:avLst/>
          </a:prstGeom>
          <a:solidFill>
            <a:srgbClr val="FEBC2E"/>
          </a:solidFill>
          <a:ln/>
        </p:spPr>
      </p:sp>
      <p:sp>
        <p:nvSpPr>
          <p:cNvPr id="8" name="Shape 6"/>
          <p:cNvSpPr/>
          <p:nvPr/>
        </p:nvSpPr>
        <p:spPr>
          <a:xfrm>
            <a:off x="1207008" y="2423160"/>
            <a:ext cx="109728" cy="109728"/>
          </a:xfrm>
          <a:prstGeom prst="ellipse">
            <a:avLst/>
          </a:prstGeom>
          <a:solidFill>
            <a:srgbClr val="28C840"/>
          </a:solidFill>
          <a:ln/>
        </p:spPr>
      </p:sp>
      <p:sp>
        <p:nvSpPr>
          <p:cNvPr id="9" name="Text 7"/>
          <p:cNvSpPr/>
          <p:nvPr/>
        </p:nvSpPr>
        <p:spPr>
          <a:xfrm>
            <a:off x="1463040" y="2368296"/>
            <a:ext cx="4846320" cy="237744"/>
          </a:xfrm>
          <a:prstGeom prst="rect">
            <a:avLst/>
          </a:prstGeom>
          <a:noFill/>
          <a:ln/>
        </p:spPr>
        <p:txBody>
          <a:bodyPr wrap="square" lIns="0" tIns="0" rIns="0" bIns="0" rtlCol="0" anchor="ctr"/>
          <a:lstStyle/>
          <a:p>
            <a:pPr algn="l" indent="0" marL="0">
              <a:buNone/>
            </a:pPr>
            <a:r>
              <a:rPr lang="en-US" sz="1050" dirty="0">
                <a:solidFill>
                  <a:srgbClr val="8294AE"/>
                </a:solidFill>
                <a:latin typeface="Courier New" pitchFamily="34" charset="0"/>
                <a:ea typeface="Courier New" pitchFamily="34" charset="-122"/>
                <a:cs typeface="Courier New" pitchFamily="34" charset="-120"/>
              </a:rPr>
              <a:t>Assistant.java</a:t>
            </a:r>
            <a:endParaRPr lang="en-US" sz="1050" dirty="0"/>
          </a:p>
        </p:txBody>
      </p:sp>
      <p:sp>
        <p:nvSpPr>
          <p:cNvPr id="10" name="Text 8"/>
          <p:cNvSpPr/>
          <p:nvPr/>
        </p:nvSpPr>
        <p:spPr>
          <a:xfrm>
            <a:off x="896112" y="2697480"/>
            <a:ext cx="5394960" cy="2743200"/>
          </a:xfrm>
          <a:prstGeom prst="rect">
            <a:avLst/>
          </a:prstGeom>
          <a:noFill/>
          <a:ln/>
        </p:spPr>
        <p:txBody>
          <a:bodyPr wrap="square" lIns="0" tIns="0" rIns="0" bIns="0" rtlCol="0" anchor="t"/>
          <a:lstStyle/>
          <a:p>
            <a:pPr algn="l" indent="0" marL="0">
              <a:lnSpc>
                <a:spcPct val="118000"/>
              </a:lnSpc>
              <a:buNone/>
            </a:pPr>
            <a:r>
              <a:rPr lang="en-US" sz="1400" i="1" dirty="0">
                <a:solidFill>
                  <a:srgbClr val="8294AE"/>
                </a:solidFill>
                <a:latin typeface="Courier New" pitchFamily="34" charset="0"/>
                <a:ea typeface="Courier New" pitchFamily="34" charset="-122"/>
                <a:cs typeface="Courier New" pitchFamily="34" charset="-120"/>
              </a:rPr>
              <a:t>// Declare what you want. Quarkus implements it.</a:t>
            </a:r>
            <a:endParaRPr lang="en-US" sz="1400" dirty="0"/>
          </a:p>
          <a:p>
            <a:pPr algn="l" indent="0" marL="0">
              <a:lnSpc>
                <a:spcPct val="118000"/>
              </a:lnSpc>
              <a:buNone/>
            </a:pPr>
            <a:r>
              <a:rPr lang="en-US" sz="1400" dirty="0">
                <a:solidFill>
                  <a:srgbClr val="FBBF24"/>
                </a:solidFill>
                <a:latin typeface="Courier New" pitchFamily="34" charset="0"/>
                <a:ea typeface="Courier New" pitchFamily="34" charset="-122"/>
                <a:cs typeface="Courier New" pitchFamily="34" charset="-120"/>
              </a:rPr>
              <a:t>@RegisterAiService</a:t>
            </a:r>
            <a:endParaRPr lang="en-US" sz="1400" dirty="0"/>
          </a:p>
          <a:p>
            <a:pPr algn="l" indent="0" marL="0">
              <a:lnSpc>
                <a:spcPct val="118000"/>
              </a:lnSpc>
              <a:buNone/>
            </a:pPr>
            <a:endParaRPr lang="en-US" sz="1400" dirty="0"/>
          </a:p>
          <a:p>
            <a:pPr algn="l" indent="0" marL="0">
              <a:lnSpc>
                <a:spcPct val="118000"/>
              </a:lnSpc>
              <a:buNone/>
            </a:pPr>
            <a:r>
              <a:rPr lang="en-US" sz="1400" dirty="0">
                <a:solidFill>
                  <a:srgbClr val="CBD5E1"/>
                </a:solidFill>
                <a:latin typeface="Courier New" pitchFamily="34" charset="0"/>
                <a:ea typeface="Courier New" pitchFamily="34" charset="-122"/>
                <a:cs typeface="Courier New" pitchFamily="34" charset="-120"/>
              </a:rPr>
              <a:t>public interface Assistant {</a:t>
            </a:r>
            <a:endParaRPr lang="en-US" sz="1400" dirty="0"/>
          </a:p>
          <a:p>
            <a:pPr algn="l" indent="0" marL="0">
              <a:lnSpc>
                <a:spcPct val="118000"/>
              </a:lnSpc>
              <a:buNone/>
            </a:pPr>
            <a:endParaRPr lang="en-US" sz="1400" dirty="0"/>
          </a:p>
          <a:p>
            <a:pPr algn="l" indent="0" marL="0">
              <a:lnSpc>
                <a:spcPct val="118000"/>
              </a:lnSpc>
              <a:buNone/>
            </a:pPr>
            <a:r>
              <a:rPr lang="en-US" sz="1400" dirty="0">
                <a:solidFill>
                  <a:srgbClr val="CBD5E1"/>
                </a:solidFill>
                <a:latin typeface="Courier New" pitchFamily="34" charset="0"/>
                <a:ea typeface="Courier New" pitchFamily="34" charset="-122"/>
                <a:cs typeface="Courier New" pitchFamily="34" charset="-120"/>
              </a:rPr>
              <a:t>    String chat(String question);</a:t>
            </a:r>
            <a:endParaRPr lang="en-US" sz="1400" dirty="0"/>
          </a:p>
          <a:p>
            <a:pPr algn="l" indent="0" marL="0">
              <a:lnSpc>
                <a:spcPct val="118000"/>
              </a:lnSpc>
              <a:buNone/>
            </a:pPr>
            <a:r>
              <a:rPr lang="en-US" sz="1400" dirty="0">
                <a:solidFill>
                  <a:srgbClr val="CBD5E1"/>
                </a:solidFill>
                <a:latin typeface="Courier New" pitchFamily="34" charset="0"/>
                <a:ea typeface="Courier New" pitchFamily="34" charset="-122"/>
                <a:cs typeface="Courier New" pitchFamily="34" charset="-120"/>
              </a:rPr>
              <a:t>}</a:t>
            </a:r>
            <a:endParaRPr lang="en-US" sz="1400" dirty="0"/>
          </a:p>
          <a:p>
            <a:pPr algn="l" indent="0" marL="0">
              <a:lnSpc>
                <a:spcPct val="118000"/>
              </a:lnSpc>
              <a:buNone/>
            </a:pPr>
            <a:endParaRPr lang="en-US" sz="1400" dirty="0"/>
          </a:p>
          <a:p>
            <a:pPr algn="l" indent="0" marL="0">
              <a:lnSpc>
                <a:spcPct val="118000"/>
              </a:lnSpc>
              <a:buNone/>
            </a:pPr>
            <a:r>
              <a:rPr lang="en-US" sz="1400" i="1" dirty="0">
                <a:solidFill>
                  <a:srgbClr val="8294AE"/>
                </a:solidFill>
                <a:latin typeface="Courier New" pitchFamily="34" charset="0"/>
                <a:ea typeface="Courier New" pitchFamily="34" charset="-122"/>
                <a:cs typeface="Courier New" pitchFamily="34" charset="-120"/>
              </a:rPr>
              <a:t>// Inject it like any other bean:</a:t>
            </a:r>
            <a:endParaRPr lang="en-US" sz="1400" dirty="0"/>
          </a:p>
          <a:p>
            <a:pPr algn="l" indent="0" marL="0">
              <a:lnSpc>
                <a:spcPct val="118000"/>
              </a:lnSpc>
              <a:buNone/>
            </a:pPr>
            <a:r>
              <a:rPr lang="en-US" sz="1400" dirty="0">
                <a:solidFill>
                  <a:srgbClr val="CBD5E1"/>
                </a:solidFill>
                <a:latin typeface="Courier New" pitchFamily="34" charset="0"/>
                <a:ea typeface="Courier New" pitchFamily="34" charset="-122"/>
                <a:cs typeface="Courier New" pitchFamily="34" charset="-120"/>
              </a:rPr>
              <a:t>@Inject Assistant assistant;</a:t>
            </a:r>
            <a:endParaRPr lang="en-US" sz="1400" dirty="0"/>
          </a:p>
          <a:p>
            <a:pPr algn="l" indent="0" marL="0">
              <a:lnSpc>
                <a:spcPct val="118000"/>
              </a:lnSpc>
              <a:buNone/>
            </a:pPr>
            <a:r>
              <a:rPr lang="en-US" sz="1400" dirty="0">
                <a:solidFill>
                  <a:srgbClr val="CBD5E1"/>
                </a:solidFill>
                <a:latin typeface="Courier New" pitchFamily="34" charset="0"/>
                <a:ea typeface="Courier New" pitchFamily="34" charset="-122"/>
                <a:cs typeface="Courier New" pitchFamily="34" charset="-120"/>
              </a:rPr>
              <a:t>assistant.chat("Hello?");</a:t>
            </a:r>
            <a:endParaRPr lang="en-US" sz="1400" dirty="0"/>
          </a:p>
        </p:txBody>
      </p:sp>
      <p:sp>
        <p:nvSpPr>
          <p:cNvPr id="11" name="Text 9"/>
          <p:cNvSpPr/>
          <p:nvPr/>
        </p:nvSpPr>
        <p:spPr>
          <a:xfrm>
            <a:off x="6858000" y="2286000"/>
            <a:ext cx="4693615" cy="41148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What you did NOT write</a:t>
            </a:r>
            <a:endParaRPr lang="en-US" sz="1800" dirty="0"/>
          </a:p>
        </p:txBody>
      </p:sp>
      <p:pic>
        <p:nvPicPr>
          <p:cNvPr id="12" name="Image 0" descr="preencoded.png">    </p:cNvPr>
          <p:cNvPicPr>
            <a:picLocks noChangeAspect="1"/>
          </p:cNvPicPr>
          <p:nvPr/>
        </p:nvPicPr>
        <p:blipFill>
          <a:blip r:embed="rId1"/>
          <a:stretch>
            <a:fillRect/>
          </a:stretch>
        </p:blipFill>
        <p:spPr>
          <a:xfrm>
            <a:off x="6858000" y="2852928"/>
            <a:ext cx="292608" cy="292608"/>
          </a:xfrm>
          <a:prstGeom prst="rect">
            <a:avLst/>
          </a:prstGeom>
        </p:spPr>
      </p:pic>
      <p:sp>
        <p:nvSpPr>
          <p:cNvPr id="13" name="Text 10"/>
          <p:cNvSpPr/>
          <p:nvPr/>
        </p:nvSpPr>
        <p:spPr>
          <a:xfrm>
            <a:off x="7315200" y="2834640"/>
            <a:ext cx="4236415" cy="45720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No HTTP client for the model API</a:t>
            </a:r>
            <a:endParaRPr lang="en-US" sz="1400" dirty="0"/>
          </a:p>
        </p:txBody>
      </p:sp>
      <p:pic>
        <p:nvPicPr>
          <p:cNvPr id="14" name="Image 1" descr="preencoded.png">    </p:cNvPr>
          <p:cNvPicPr>
            <a:picLocks noChangeAspect="1"/>
          </p:cNvPicPr>
          <p:nvPr/>
        </p:nvPicPr>
        <p:blipFill>
          <a:blip r:embed="rId2"/>
          <a:stretch>
            <a:fillRect/>
          </a:stretch>
        </p:blipFill>
        <p:spPr>
          <a:xfrm>
            <a:off x="6858000" y="3419856"/>
            <a:ext cx="292608" cy="292608"/>
          </a:xfrm>
          <a:prstGeom prst="rect">
            <a:avLst/>
          </a:prstGeom>
        </p:spPr>
      </p:pic>
      <p:sp>
        <p:nvSpPr>
          <p:cNvPr id="15" name="Text 11"/>
          <p:cNvSpPr/>
          <p:nvPr/>
        </p:nvSpPr>
        <p:spPr>
          <a:xfrm>
            <a:off x="7315200" y="3401568"/>
            <a:ext cx="4236415" cy="45720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No JSON request/response plumbing</a:t>
            </a:r>
            <a:endParaRPr lang="en-US" sz="1400" dirty="0"/>
          </a:p>
        </p:txBody>
      </p:sp>
      <p:pic>
        <p:nvPicPr>
          <p:cNvPr id="16" name="Image 2" descr="preencoded.png">    </p:cNvPr>
          <p:cNvPicPr>
            <a:picLocks noChangeAspect="1"/>
          </p:cNvPicPr>
          <p:nvPr/>
        </p:nvPicPr>
        <p:blipFill>
          <a:blip r:embed="rId3"/>
          <a:stretch>
            <a:fillRect/>
          </a:stretch>
        </p:blipFill>
        <p:spPr>
          <a:xfrm>
            <a:off x="6858000" y="3986784"/>
            <a:ext cx="292608" cy="292608"/>
          </a:xfrm>
          <a:prstGeom prst="rect">
            <a:avLst/>
          </a:prstGeom>
        </p:spPr>
      </p:pic>
      <p:sp>
        <p:nvSpPr>
          <p:cNvPr id="17" name="Text 12"/>
          <p:cNvSpPr/>
          <p:nvPr/>
        </p:nvSpPr>
        <p:spPr>
          <a:xfrm>
            <a:off x="7315200" y="3968496"/>
            <a:ext cx="4236415" cy="45720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No retry / timeout boilerplate</a:t>
            </a:r>
            <a:endParaRPr lang="en-US" sz="1400" dirty="0"/>
          </a:p>
        </p:txBody>
      </p:sp>
      <p:pic>
        <p:nvPicPr>
          <p:cNvPr id="18" name="Image 3" descr="preencoded.png">    </p:cNvPr>
          <p:cNvPicPr>
            <a:picLocks noChangeAspect="1"/>
          </p:cNvPicPr>
          <p:nvPr/>
        </p:nvPicPr>
        <p:blipFill>
          <a:blip r:embed="rId4"/>
          <a:stretch>
            <a:fillRect/>
          </a:stretch>
        </p:blipFill>
        <p:spPr>
          <a:xfrm>
            <a:off x="6858000" y="4553712"/>
            <a:ext cx="292608" cy="292608"/>
          </a:xfrm>
          <a:prstGeom prst="rect">
            <a:avLst/>
          </a:prstGeom>
        </p:spPr>
      </p:pic>
      <p:sp>
        <p:nvSpPr>
          <p:cNvPr id="19" name="Text 13"/>
          <p:cNvSpPr/>
          <p:nvPr/>
        </p:nvSpPr>
        <p:spPr>
          <a:xfrm>
            <a:off x="7315200" y="4535424"/>
            <a:ext cx="4236415" cy="45720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No prompt string concatenation in your resource</a:t>
            </a:r>
            <a:endParaRPr lang="en-US" sz="1400" dirty="0"/>
          </a:p>
        </p:txBody>
      </p:sp>
      <p:sp>
        <p:nvSpPr>
          <p:cNvPr id="20" name="Shape 14"/>
          <p:cNvSpPr/>
          <p:nvPr/>
        </p:nvSpPr>
        <p:spPr>
          <a:xfrm>
            <a:off x="6858000" y="5257800"/>
            <a:ext cx="4693615" cy="777240"/>
          </a:xfrm>
          <a:prstGeom prst="roundRect">
            <a:avLst>
              <a:gd name="adj" fmla="val 9412"/>
            </a:avLst>
          </a:prstGeom>
          <a:solidFill>
            <a:srgbClr val="16202F"/>
          </a:solidFill>
          <a:ln w="12700">
            <a:solidFill>
              <a:srgbClr val="34D399"/>
            </a:solidFill>
            <a:prstDash val="solid"/>
          </a:ln>
        </p:spPr>
      </p:sp>
      <p:sp>
        <p:nvSpPr>
          <p:cNvPr id="21" name="Text 15"/>
          <p:cNvSpPr/>
          <p:nvPr/>
        </p:nvSpPr>
        <p:spPr>
          <a:xfrm>
            <a:off x="7086600" y="5257800"/>
            <a:ext cx="4236415" cy="777240"/>
          </a:xfrm>
          <a:prstGeom prst="rect">
            <a:avLst/>
          </a:prstGeom>
          <a:noFill/>
          <a:ln/>
        </p:spPr>
        <p:txBody>
          <a:bodyPr wrap="square" lIns="0" tIns="0" rIns="0" bIns="0" rtlCol="0" anchor="ctr"/>
          <a:lstStyle/>
          <a:p>
            <a:pPr algn="l" indent="0" marL="0">
              <a:buNone/>
            </a:pPr>
            <a:r>
              <a:rPr lang="en-US" sz="1300" dirty="0">
                <a:solidFill>
                  <a:srgbClr val="8294AE"/>
                </a:solidFill>
                <a:latin typeface="Calibri" pitchFamily="34" charset="0"/>
                <a:ea typeface="Calibri" pitchFamily="34" charset="-122"/>
                <a:cs typeface="Calibri" pitchFamily="34" charset="-120"/>
              </a:rPr>
              <a:t>The model config (key, model name, temperature) lives in </a:t>
            </a:r>
            <a:pPr algn="l" indent="0" marL="0">
              <a:buNone/>
            </a:pPr>
            <a:r>
              <a:rPr lang="en-US" sz="1300" b="1" dirty="0">
                <a:solidFill>
                  <a:srgbClr val="34D399"/>
                </a:solidFill>
                <a:latin typeface="Calibri" pitchFamily="34" charset="0"/>
                <a:ea typeface="Calibri" pitchFamily="34" charset="-122"/>
                <a:cs typeface="Calibri" pitchFamily="34" charset="-120"/>
              </a:rPr>
              <a:t>application.properties</a:t>
            </a:r>
            <a:pPr algn="l" indent="0" marL="0">
              <a:buNone/>
            </a:pPr>
            <a:r>
              <a:rPr lang="en-US" sz="1300" dirty="0">
                <a:solidFill>
                  <a:srgbClr val="8294AE"/>
                </a:solidFill>
                <a:latin typeface="Calibri" pitchFamily="34" charset="0"/>
                <a:ea typeface="Calibri" pitchFamily="34" charset="-122"/>
                <a:cs typeface="Calibri" pitchFamily="34" charset="-120"/>
              </a:rPr>
              <a:t> — not in code.</a:t>
            </a:r>
            <a:endParaRPr lang="en-US" sz="1300" dirty="0"/>
          </a:p>
        </p:txBody>
      </p:sp>
      <p:sp>
        <p:nvSpPr>
          <p:cNvPr id="23" name="Text 16"/>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4" name="Text 17"/>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F4D6A"/>
                </a:solidFill>
                <a:latin typeface="Courier New" pitchFamily="34" charset="0"/>
                <a:ea typeface="Courier New" pitchFamily="34" charset="-122"/>
                <a:cs typeface="Courier New" pitchFamily="34" charset="-120"/>
              </a:rPr>
              <a:t>// the demo spine</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The same question, answered four ways</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10</a:t>
            </a:r>
            <a:endParaRPr lang="en-US" sz="4000" dirty="0"/>
          </a:p>
        </p:txBody>
      </p:sp>
      <p:sp>
        <p:nvSpPr>
          <p:cNvPr id="5" name="Text 3"/>
          <p:cNvSpPr/>
          <p:nvPr/>
        </p:nvSpPr>
        <p:spPr>
          <a:xfrm>
            <a:off x="640080" y="1591056"/>
            <a:ext cx="10424160" cy="457200"/>
          </a:xfrm>
          <a:prstGeom prst="rect">
            <a:avLst/>
          </a:prstGeom>
          <a:noFill/>
          <a:ln/>
        </p:spPr>
        <p:txBody>
          <a:bodyPr wrap="square" lIns="0" tIns="0" rIns="0" bIns="0" rtlCol="0" anchor="ctr"/>
          <a:lstStyle/>
          <a:p>
            <a:pPr indent="0" marL="0">
              <a:buNone/>
            </a:pPr>
            <a:r>
              <a:rPr lang="en-US" sz="1500" i="1" dirty="0">
                <a:solidFill>
                  <a:srgbClr val="8294AE"/>
                </a:solidFill>
                <a:latin typeface="Calibri" pitchFamily="34" charset="0"/>
                <a:ea typeface="Calibri" pitchFamily="34" charset="-122"/>
                <a:cs typeface="Calibri" pitchFamily="34" charset="-120"/>
              </a:rPr>
              <a:t>Four endpoints, one corpus of company newsletters. Watch what each layer buys you.</a:t>
            </a:r>
            <a:endParaRPr lang="en-US" sz="1500" dirty="0"/>
          </a:p>
        </p:txBody>
      </p:sp>
      <p:sp>
        <p:nvSpPr>
          <p:cNvPr id="6" name="Shape 4"/>
          <p:cNvSpPr/>
          <p:nvPr/>
        </p:nvSpPr>
        <p:spPr>
          <a:xfrm>
            <a:off x="640080" y="2286000"/>
            <a:ext cx="10911535" cy="850392"/>
          </a:xfrm>
          <a:prstGeom prst="roundRect">
            <a:avLst>
              <a:gd name="adj" fmla="val 860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7" name="Text 5"/>
          <p:cNvSpPr/>
          <p:nvPr/>
        </p:nvSpPr>
        <p:spPr>
          <a:xfrm>
            <a:off x="868680" y="2286000"/>
            <a:ext cx="731520" cy="850392"/>
          </a:xfrm>
          <a:prstGeom prst="rect">
            <a:avLst/>
          </a:prstGeom>
          <a:noFill/>
          <a:ln/>
        </p:spPr>
        <p:txBody>
          <a:bodyPr wrap="square" lIns="0" tIns="0" rIns="0" bIns="0" rtlCol="0" anchor="ctr"/>
          <a:lstStyle/>
          <a:p>
            <a:pPr algn="ctr" indent="0" marL="0">
              <a:buNone/>
            </a:pPr>
            <a:r>
              <a:rPr lang="en-US" sz="2600" b="1" dirty="0">
                <a:solidFill>
                  <a:srgbClr val="FF4D6A"/>
                </a:solidFill>
                <a:latin typeface="Arial" pitchFamily="34" charset="0"/>
                <a:ea typeface="Arial" pitchFamily="34" charset="-122"/>
                <a:cs typeface="Arial" pitchFamily="34" charset="-120"/>
              </a:rPr>
              <a:t>01</a:t>
            </a:r>
            <a:endParaRPr lang="en-US" sz="2600" dirty="0"/>
          </a:p>
        </p:txBody>
      </p:sp>
      <p:sp>
        <p:nvSpPr>
          <p:cNvPr id="8" name="Shape 6"/>
          <p:cNvSpPr/>
          <p:nvPr/>
        </p:nvSpPr>
        <p:spPr>
          <a:xfrm>
            <a:off x="1737360" y="2455164"/>
            <a:ext cx="512064" cy="512064"/>
          </a:xfrm>
          <a:prstGeom prst="ellipse">
            <a:avLst/>
          </a:prstGeom>
          <a:solidFill>
            <a:srgbClr val="243349"/>
          </a:solidFill>
          <a:ln w="12700">
            <a:solidFill>
              <a:srgbClr val="2B3A52"/>
            </a:solidFill>
            <a:prstDash val="solid"/>
          </a:ln>
        </p:spPr>
      </p:sp>
      <p:pic>
        <p:nvPicPr>
          <p:cNvPr id="9" name="Image 0" descr="preencoded.png">    </p:cNvPr>
          <p:cNvPicPr>
            <a:picLocks noChangeAspect="1"/>
          </p:cNvPicPr>
          <p:nvPr/>
        </p:nvPicPr>
        <p:blipFill>
          <a:blip r:embed="rId1"/>
          <a:stretch>
            <a:fillRect/>
          </a:stretch>
        </p:blipFill>
        <p:spPr>
          <a:xfrm>
            <a:off x="1880738" y="2598542"/>
            <a:ext cx="225308" cy="225308"/>
          </a:xfrm>
          <a:prstGeom prst="rect">
            <a:avLst/>
          </a:prstGeom>
        </p:spPr>
      </p:pic>
      <p:sp>
        <p:nvSpPr>
          <p:cNvPr id="10" name="Text 7"/>
          <p:cNvSpPr/>
          <p:nvPr/>
        </p:nvSpPr>
        <p:spPr>
          <a:xfrm>
            <a:off x="2468880" y="2286000"/>
            <a:ext cx="3108960" cy="850392"/>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/ask/no-rag</a:t>
            </a:r>
            <a:endParaRPr lang="en-US" sz="1500" dirty="0"/>
          </a:p>
        </p:txBody>
      </p:sp>
      <p:sp>
        <p:nvSpPr>
          <p:cNvPr id="11" name="Text 8"/>
          <p:cNvSpPr/>
          <p:nvPr/>
        </p:nvSpPr>
        <p:spPr>
          <a:xfrm>
            <a:off x="5577840" y="2286000"/>
            <a:ext cx="2286000" cy="850392"/>
          </a:xfrm>
          <a:prstGeom prst="rect">
            <a:avLst/>
          </a:prstGeom>
          <a:noFill/>
          <a:ln/>
        </p:spPr>
        <p:txBody>
          <a:bodyPr wrap="square" lIns="0" tIns="0" rIns="0" bIns="0" rtlCol="0" anchor="ctr"/>
          <a:lstStyle/>
          <a:p>
            <a:pPr algn="l" indent="0" marL="0">
              <a:buNone/>
            </a:pPr>
            <a:r>
              <a:rPr lang="en-US" sz="1500" b="1" dirty="0">
                <a:solidFill>
                  <a:srgbClr val="FF4D6A"/>
                </a:solidFill>
                <a:latin typeface="Arial" pitchFamily="34" charset="0"/>
                <a:ea typeface="Arial" pitchFamily="34" charset="-122"/>
                <a:cs typeface="Arial" pitchFamily="34" charset="-120"/>
              </a:rPr>
              <a:t>No retrieval</a:t>
            </a:r>
            <a:endParaRPr lang="en-US" sz="1500" dirty="0"/>
          </a:p>
        </p:txBody>
      </p:sp>
      <p:sp>
        <p:nvSpPr>
          <p:cNvPr id="12" name="Text 9"/>
          <p:cNvSpPr/>
          <p:nvPr/>
        </p:nvSpPr>
        <p:spPr>
          <a:xfrm>
            <a:off x="7772400" y="2286000"/>
            <a:ext cx="3596335" cy="850392"/>
          </a:xfrm>
          <a:prstGeom prst="rect">
            <a:avLst/>
          </a:prstGeom>
          <a:noFill/>
          <a:ln/>
        </p:spPr>
        <p:txBody>
          <a:bodyPr wrap="square" lIns="0" tIns="0" rIns="0" bIns="0" rtlCol="0" anchor="ctr"/>
          <a:lstStyle/>
          <a:p>
            <a:pPr algn="l" indent="0" marL="0">
              <a:buNone/>
            </a:pPr>
            <a:r>
              <a:rPr lang="en-US" sz="1250" dirty="0">
                <a:solidFill>
                  <a:srgbClr val="8294AE"/>
                </a:solidFill>
                <a:latin typeface="Calibri" pitchFamily="34" charset="0"/>
                <a:ea typeface="Calibri" pitchFamily="34" charset="-122"/>
                <a:cs typeface="Calibri" pitchFamily="34" charset="-120"/>
              </a:rPr>
              <a:t>Raw model call. Hallucinates confidently. The “before”.</a:t>
            </a:r>
            <a:endParaRPr lang="en-US" sz="1250" dirty="0"/>
          </a:p>
        </p:txBody>
      </p:sp>
      <p:sp>
        <p:nvSpPr>
          <p:cNvPr id="13" name="Shape 10"/>
          <p:cNvSpPr/>
          <p:nvPr/>
        </p:nvSpPr>
        <p:spPr>
          <a:xfrm>
            <a:off x="640080" y="3246120"/>
            <a:ext cx="10911535" cy="850392"/>
          </a:xfrm>
          <a:prstGeom prst="roundRect">
            <a:avLst>
              <a:gd name="adj" fmla="val 860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4" name="Text 11"/>
          <p:cNvSpPr/>
          <p:nvPr/>
        </p:nvSpPr>
        <p:spPr>
          <a:xfrm>
            <a:off x="868680" y="3246120"/>
            <a:ext cx="731520" cy="850392"/>
          </a:xfrm>
          <a:prstGeom prst="rect">
            <a:avLst/>
          </a:prstGeom>
          <a:noFill/>
          <a:ln/>
        </p:spPr>
        <p:txBody>
          <a:bodyPr wrap="square" lIns="0" tIns="0" rIns="0" bIns="0" rtlCol="0" anchor="ctr"/>
          <a:lstStyle/>
          <a:p>
            <a:pPr algn="ctr" indent="0" marL="0">
              <a:buNone/>
            </a:pPr>
            <a:r>
              <a:rPr lang="en-US" sz="2600" b="1" dirty="0">
                <a:solidFill>
                  <a:srgbClr val="34D399"/>
                </a:solidFill>
                <a:latin typeface="Arial" pitchFamily="34" charset="0"/>
                <a:ea typeface="Arial" pitchFamily="34" charset="-122"/>
                <a:cs typeface="Arial" pitchFamily="34" charset="-120"/>
              </a:rPr>
              <a:t>02</a:t>
            </a:r>
            <a:endParaRPr lang="en-US" sz="2600" dirty="0"/>
          </a:p>
        </p:txBody>
      </p:sp>
      <p:sp>
        <p:nvSpPr>
          <p:cNvPr id="15" name="Shape 12"/>
          <p:cNvSpPr/>
          <p:nvPr/>
        </p:nvSpPr>
        <p:spPr>
          <a:xfrm>
            <a:off x="1737360" y="3415284"/>
            <a:ext cx="512064" cy="512064"/>
          </a:xfrm>
          <a:prstGeom prst="ellipse">
            <a:avLst/>
          </a:prstGeom>
          <a:solidFill>
            <a:srgbClr val="243349"/>
          </a:solidFill>
          <a:ln w="12700">
            <a:solidFill>
              <a:srgbClr val="2B3A52"/>
            </a:solidFill>
            <a:prstDash val="solid"/>
          </a:ln>
        </p:spPr>
      </p:sp>
      <p:pic>
        <p:nvPicPr>
          <p:cNvPr id="16" name="Image 1" descr="preencoded.png">    </p:cNvPr>
          <p:cNvPicPr>
            <a:picLocks noChangeAspect="1"/>
          </p:cNvPicPr>
          <p:nvPr/>
        </p:nvPicPr>
        <p:blipFill>
          <a:blip r:embed="rId2"/>
          <a:stretch>
            <a:fillRect/>
          </a:stretch>
        </p:blipFill>
        <p:spPr>
          <a:xfrm>
            <a:off x="1880738" y="3558662"/>
            <a:ext cx="225308" cy="225308"/>
          </a:xfrm>
          <a:prstGeom prst="rect">
            <a:avLst/>
          </a:prstGeom>
        </p:spPr>
      </p:pic>
      <p:sp>
        <p:nvSpPr>
          <p:cNvPr id="17" name="Text 13"/>
          <p:cNvSpPr/>
          <p:nvPr/>
        </p:nvSpPr>
        <p:spPr>
          <a:xfrm>
            <a:off x="2468880" y="3246120"/>
            <a:ext cx="3108960" cy="850392"/>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/ask/naive-rag</a:t>
            </a:r>
            <a:endParaRPr lang="en-US" sz="1500" dirty="0"/>
          </a:p>
        </p:txBody>
      </p:sp>
      <p:sp>
        <p:nvSpPr>
          <p:cNvPr id="18" name="Text 14"/>
          <p:cNvSpPr/>
          <p:nvPr/>
        </p:nvSpPr>
        <p:spPr>
          <a:xfrm>
            <a:off x="5577840" y="3246120"/>
            <a:ext cx="2286000" cy="850392"/>
          </a:xfrm>
          <a:prstGeom prst="rect">
            <a:avLst/>
          </a:prstGeom>
          <a:noFill/>
          <a:ln/>
        </p:spPr>
        <p:txBody>
          <a:bodyPr wrap="square" lIns="0" tIns="0" rIns="0" bIns="0" rtlCol="0" anchor="ctr"/>
          <a:lstStyle/>
          <a:p>
            <a:pPr algn="l" indent="0" marL="0">
              <a:buNone/>
            </a:pPr>
            <a:r>
              <a:rPr lang="en-US" sz="1500" b="1" dirty="0">
                <a:solidFill>
                  <a:srgbClr val="34D399"/>
                </a:solidFill>
                <a:latin typeface="Arial" pitchFamily="34" charset="0"/>
                <a:ea typeface="Arial" pitchFamily="34" charset="-122"/>
                <a:cs typeface="Arial" pitchFamily="34" charset="-120"/>
              </a:rPr>
              <a:t>RAG by hand</a:t>
            </a:r>
            <a:endParaRPr lang="en-US" sz="1500" dirty="0"/>
          </a:p>
        </p:txBody>
      </p:sp>
      <p:sp>
        <p:nvSpPr>
          <p:cNvPr id="19" name="Text 15"/>
          <p:cNvSpPr/>
          <p:nvPr/>
        </p:nvSpPr>
        <p:spPr>
          <a:xfrm>
            <a:off x="7772400" y="3246120"/>
            <a:ext cx="3596335" cy="850392"/>
          </a:xfrm>
          <a:prstGeom prst="rect">
            <a:avLst/>
          </a:prstGeom>
          <a:noFill/>
          <a:ln/>
        </p:spPr>
        <p:txBody>
          <a:bodyPr wrap="square" lIns="0" tIns="0" rIns="0" bIns="0" rtlCol="0" anchor="ctr"/>
          <a:lstStyle/>
          <a:p>
            <a:pPr algn="l" indent="0" marL="0">
              <a:buNone/>
            </a:pPr>
            <a:r>
              <a:rPr lang="en-US" sz="1250" dirty="0">
                <a:solidFill>
                  <a:srgbClr val="8294AE"/>
                </a:solidFill>
                <a:latin typeface="Calibri" pitchFamily="34" charset="0"/>
                <a:ea typeface="Calibri" pitchFamily="34" charset="-122"/>
                <a:cs typeface="Calibri" pitchFamily="34" charset="-120"/>
              </a:rPr>
              <a:t>Retriever + augmentor wired explicitly. Shows what RAG actually is.</a:t>
            </a:r>
            <a:endParaRPr lang="en-US" sz="1250" dirty="0"/>
          </a:p>
        </p:txBody>
      </p:sp>
      <p:sp>
        <p:nvSpPr>
          <p:cNvPr id="20" name="Shape 16"/>
          <p:cNvSpPr/>
          <p:nvPr/>
        </p:nvSpPr>
        <p:spPr>
          <a:xfrm>
            <a:off x="640080" y="4206240"/>
            <a:ext cx="10911535" cy="850392"/>
          </a:xfrm>
          <a:prstGeom prst="roundRect">
            <a:avLst>
              <a:gd name="adj" fmla="val 860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1" name="Text 17"/>
          <p:cNvSpPr/>
          <p:nvPr/>
        </p:nvSpPr>
        <p:spPr>
          <a:xfrm>
            <a:off x="868680" y="4206240"/>
            <a:ext cx="731520" cy="850392"/>
          </a:xfrm>
          <a:prstGeom prst="rect">
            <a:avLst/>
          </a:prstGeom>
          <a:noFill/>
          <a:ln/>
        </p:spPr>
        <p:txBody>
          <a:bodyPr wrap="square" lIns="0" tIns="0" rIns="0" bIns="0" rtlCol="0" anchor="ctr"/>
          <a:lstStyle/>
          <a:p>
            <a:pPr algn="ctr" indent="0" marL="0">
              <a:buNone/>
            </a:pPr>
            <a:r>
              <a:rPr lang="en-US" sz="2600" b="1" dirty="0">
                <a:solidFill>
                  <a:srgbClr val="FBBF24"/>
                </a:solidFill>
                <a:latin typeface="Arial" pitchFamily="34" charset="0"/>
                <a:ea typeface="Arial" pitchFamily="34" charset="-122"/>
                <a:cs typeface="Arial" pitchFamily="34" charset="-120"/>
              </a:rPr>
              <a:t>03</a:t>
            </a:r>
            <a:endParaRPr lang="en-US" sz="2600" dirty="0"/>
          </a:p>
        </p:txBody>
      </p:sp>
      <p:sp>
        <p:nvSpPr>
          <p:cNvPr id="22" name="Shape 18"/>
          <p:cNvSpPr/>
          <p:nvPr/>
        </p:nvSpPr>
        <p:spPr>
          <a:xfrm>
            <a:off x="1737360" y="4375404"/>
            <a:ext cx="512064" cy="512064"/>
          </a:xfrm>
          <a:prstGeom prst="ellipse">
            <a:avLst/>
          </a:prstGeom>
          <a:solidFill>
            <a:srgbClr val="243349"/>
          </a:solidFill>
          <a:ln w="12700">
            <a:solidFill>
              <a:srgbClr val="2B3A52"/>
            </a:solidFill>
            <a:prstDash val="solid"/>
          </a:ln>
        </p:spPr>
      </p:sp>
      <p:pic>
        <p:nvPicPr>
          <p:cNvPr id="23" name="Image 2" descr="preencoded.png">    </p:cNvPr>
          <p:cNvPicPr>
            <a:picLocks noChangeAspect="1"/>
          </p:cNvPicPr>
          <p:nvPr/>
        </p:nvPicPr>
        <p:blipFill>
          <a:blip r:embed="rId3"/>
          <a:stretch>
            <a:fillRect/>
          </a:stretch>
        </p:blipFill>
        <p:spPr>
          <a:xfrm>
            <a:off x="1880738" y="4518782"/>
            <a:ext cx="225308" cy="225308"/>
          </a:xfrm>
          <a:prstGeom prst="rect">
            <a:avLst/>
          </a:prstGeom>
        </p:spPr>
      </p:pic>
      <p:sp>
        <p:nvSpPr>
          <p:cNvPr id="24" name="Text 19"/>
          <p:cNvSpPr/>
          <p:nvPr/>
        </p:nvSpPr>
        <p:spPr>
          <a:xfrm>
            <a:off x="2468880" y="4206240"/>
            <a:ext cx="3108960" cy="850392"/>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/ask/easy-rag</a:t>
            </a:r>
            <a:endParaRPr lang="en-US" sz="1500" dirty="0"/>
          </a:p>
        </p:txBody>
      </p:sp>
      <p:sp>
        <p:nvSpPr>
          <p:cNvPr id="25" name="Text 20"/>
          <p:cNvSpPr/>
          <p:nvPr/>
        </p:nvSpPr>
        <p:spPr>
          <a:xfrm>
            <a:off x="5577840" y="4206240"/>
            <a:ext cx="2286000" cy="850392"/>
          </a:xfrm>
          <a:prstGeom prst="rect">
            <a:avLst/>
          </a:prstGeom>
          <a:noFill/>
          <a:ln/>
        </p:spPr>
        <p:txBody>
          <a:bodyPr wrap="square" lIns="0" tIns="0" rIns="0" bIns="0" rtlCol="0" anchor="ctr"/>
          <a:lstStyle/>
          <a:p>
            <a:pPr algn="l" indent="0" marL="0">
              <a:buNone/>
            </a:pPr>
            <a:r>
              <a:rPr lang="en-US" sz="1500" b="1" dirty="0">
                <a:solidFill>
                  <a:srgbClr val="FBBF24"/>
                </a:solidFill>
                <a:latin typeface="Arial" pitchFamily="34" charset="0"/>
                <a:ea typeface="Arial" pitchFamily="34" charset="-122"/>
                <a:cs typeface="Arial" pitchFamily="34" charset="-120"/>
              </a:rPr>
              <a:t>RAG by config</a:t>
            </a:r>
            <a:endParaRPr lang="en-US" sz="1500" dirty="0"/>
          </a:p>
        </p:txBody>
      </p:sp>
      <p:sp>
        <p:nvSpPr>
          <p:cNvPr id="26" name="Text 21"/>
          <p:cNvSpPr/>
          <p:nvPr/>
        </p:nvSpPr>
        <p:spPr>
          <a:xfrm>
            <a:off x="7772400" y="4206240"/>
            <a:ext cx="3596335" cy="850392"/>
          </a:xfrm>
          <a:prstGeom prst="rect">
            <a:avLst/>
          </a:prstGeom>
          <a:noFill/>
          <a:ln/>
        </p:spPr>
        <p:txBody>
          <a:bodyPr wrap="square" lIns="0" tIns="0" rIns="0" bIns="0" rtlCol="0" anchor="ctr"/>
          <a:lstStyle/>
          <a:p>
            <a:pPr algn="l" indent="0" marL="0">
              <a:buNone/>
            </a:pPr>
            <a:r>
              <a:rPr lang="en-US" sz="1250" dirty="0">
                <a:solidFill>
                  <a:srgbClr val="8294AE"/>
                </a:solidFill>
                <a:latin typeface="Calibri" pitchFamily="34" charset="0"/>
                <a:ea typeface="Calibri" pitchFamily="34" charset="-122"/>
                <a:cs typeface="Calibri" pitchFamily="34" charset="-120"/>
              </a:rPr>
              <a:t>Same answer, the wiring deleted. Three properties, zero RAG code.</a:t>
            </a:r>
            <a:endParaRPr lang="en-US" sz="1250" dirty="0"/>
          </a:p>
        </p:txBody>
      </p:sp>
      <p:sp>
        <p:nvSpPr>
          <p:cNvPr id="27" name="Shape 22"/>
          <p:cNvSpPr/>
          <p:nvPr/>
        </p:nvSpPr>
        <p:spPr>
          <a:xfrm>
            <a:off x="640080" y="5166360"/>
            <a:ext cx="10911535" cy="850392"/>
          </a:xfrm>
          <a:prstGeom prst="roundRect">
            <a:avLst>
              <a:gd name="adj" fmla="val 8602"/>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8" name="Text 23"/>
          <p:cNvSpPr/>
          <p:nvPr/>
        </p:nvSpPr>
        <p:spPr>
          <a:xfrm>
            <a:off x="868680" y="5166360"/>
            <a:ext cx="731520" cy="850392"/>
          </a:xfrm>
          <a:prstGeom prst="rect">
            <a:avLst/>
          </a:prstGeom>
          <a:noFill/>
          <a:ln/>
        </p:spPr>
        <p:txBody>
          <a:bodyPr wrap="square" lIns="0" tIns="0" rIns="0" bIns="0" rtlCol="0" anchor="ctr"/>
          <a:lstStyle/>
          <a:p>
            <a:pPr algn="ctr" indent="0" marL="0">
              <a:buNone/>
            </a:pPr>
            <a:r>
              <a:rPr lang="en-US" sz="2600" b="1" dirty="0">
                <a:solidFill>
                  <a:srgbClr val="CBD5E1"/>
                </a:solidFill>
                <a:latin typeface="Arial" pitchFamily="34" charset="0"/>
                <a:ea typeface="Arial" pitchFamily="34" charset="-122"/>
                <a:cs typeface="Arial" pitchFamily="34" charset="-120"/>
              </a:rPr>
              <a:t>04</a:t>
            </a:r>
            <a:endParaRPr lang="en-US" sz="2600" dirty="0"/>
          </a:p>
        </p:txBody>
      </p:sp>
      <p:sp>
        <p:nvSpPr>
          <p:cNvPr id="29" name="Shape 24"/>
          <p:cNvSpPr/>
          <p:nvPr/>
        </p:nvSpPr>
        <p:spPr>
          <a:xfrm>
            <a:off x="1737360" y="5335524"/>
            <a:ext cx="512064" cy="512064"/>
          </a:xfrm>
          <a:prstGeom prst="ellipse">
            <a:avLst/>
          </a:prstGeom>
          <a:solidFill>
            <a:srgbClr val="243349"/>
          </a:solidFill>
          <a:ln w="12700">
            <a:solidFill>
              <a:srgbClr val="2B3A52"/>
            </a:solidFill>
            <a:prstDash val="solid"/>
          </a:ln>
        </p:spPr>
      </p:sp>
      <p:pic>
        <p:nvPicPr>
          <p:cNvPr id="30" name="Image 3" descr="preencoded.png">    </p:cNvPr>
          <p:cNvPicPr>
            <a:picLocks noChangeAspect="1"/>
          </p:cNvPicPr>
          <p:nvPr/>
        </p:nvPicPr>
        <p:blipFill>
          <a:blip r:embed="rId4"/>
          <a:stretch>
            <a:fillRect/>
          </a:stretch>
        </p:blipFill>
        <p:spPr>
          <a:xfrm>
            <a:off x="1880738" y="5478902"/>
            <a:ext cx="225308" cy="225308"/>
          </a:xfrm>
          <a:prstGeom prst="rect">
            <a:avLst/>
          </a:prstGeom>
        </p:spPr>
      </p:pic>
      <p:sp>
        <p:nvSpPr>
          <p:cNvPr id="31" name="Text 25"/>
          <p:cNvSpPr/>
          <p:nvPr/>
        </p:nvSpPr>
        <p:spPr>
          <a:xfrm>
            <a:off x="2468880" y="5166360"/>
            <a:ext cx="3108960" cy="850392"/>
          </a:xfrm>
          <a:prstGeom prst="rect">
            <a:avLst/>
          </a:prstGeom>
          <a:noFill/>
          <a:ln/>
        </p:spPr>
        <p:txBody>
          <a:bodyPr wrap="square" lIns="0" tIns="0" rIns="0" bIns="0" rtlCol="0" anchor="ctr"/>
          <a:lstStyle/>
          <a:p>
            <a:pPr algn="l" indent="0" marL="0">
              <a:buNone/>
            </a:pPr>
            <a:r>
              <a:rPr lang="en-US" sz="1500" b="1" dirty="0">
                <a:solidFill>
                  <a:srgbClr val="FFFFFF"/>
                </a:solidFill>
                <a:latin typeface="Courier New" pitchFamily="34" charset="0"/>
                <a:ea typeface="Courier New" pitchFamily="34" charset="-122"/>
                <a:cs typeface="Courier New" pitchFamily="34" charset="-120"/>
              </a:rPr>
              <a:t>/ask/transformed-rag</a:t>
            </a:r>
            <a:endParaRPr lang="en-US" sz="1500" dirty="0"/>
          </a:p>
        </p:txBody>
      </p:sp>
      <p:sp>
        <p:nvSpPr>
          <p:cNvPr id="32" name="Text 26"/>
          <p:cNvSpPr/>
          <p:nvPr/>
        </p:nvSpPr>
        <p:spPr>
          <a:xfrm>
            <a:off x="5577840" y="5166360"/>
            <a:ext cx="2286000" cy="850392"/>
          </a:xfrm>
          <a:prstGeom prst="rect">
            <a:avLst/>
          </a:prstGeom>
          <a:noFill/>
          <a:ln/>
        </p:spPr>
        <p:txBody>
          <a:bodyPr wrap="square" lIns="0" tIns="0" rIns="0" bIns="0" rtlCol="0" anchor="ctr"/>
          <a:lstStyle/>
          <a:p>
            <a:pPr algn="l" indent="0" marL="0">
              <a:buNone/>
            </a:pPr>
            <a:r>
              <a:rPr lang="en-US" sz="1500" b="1" dirty="0">
                <a:solidFill>
                  <a:srgbClr val="CBD5E1"/>
                </a:solidFill>
                <a:latin typeface="Arial" pitchFamily="34" charset="0"/>
                <a:ea typeface="Arial" pitchFamily="34" charset="-122"/>
                <a:cs typeface="Arial" pitchFamily="34" charset="-120"/>
              </a:rPr>
              <a:t>RAG, tuned</a:t>
            </a:r>
            <a:endParaRPr lang="en-US" sz="1500" dirty="0"/>
          </a:p>
        </p:txBody>
      </p:sp>
      <p:sp>
        <p:nvSpPr>
          <p:cNvPr id="33" name="Text 27"/>
          <p:cNvSpPr/>
          <p:nvPr/>
        </p:nvSpPr>
        <p:spPr>
          <a:xfrm>
            <a:off x="7772400" y="5166360"/>
            <a:ext cx="3596335" cy="850392"/>
          </a:xfrm>
          <a:prstGeom prst="rect">
            <a:avLst/>
          </a:prstGeom>
          <a:noFill/>
          <a:ln/>
        </p:spPr>
        <p:txBody>
          <a:bodyPr wrap="square" lIns="0" tIns="0" rIns="0" bIns="0" rtlCol="0" anchor="ctr"/>
          <a:lstStyle/>
          <a:p>
            <a:pPr algn="l" indent="0" marL="0">
              <a:buNone/>
            </a:pPr>
            <a:r>
              <a:rPr lang="en-US" sz="1250" dirty="0">
                <a:solidFill>
                  <a:srgbClr val="8294AE"/>
                </a:solidFill>
                <a:latin typeface="Calibri" pitchFamily="34" charset="0"/>
                <a:ea typeface="Calibri" pitchFamily="34" charset="-122"/>
                <a:cs typeface="Calibri" pitchFamily="34" charset="-120"/>
              </a:rPr>
              <a:t>Rewrites a vague question before retrieving. The first knob you turn.</a:t>
            </a:r>
            <a:endParaRPr lang="en-US" sz="1250" dirty="0"/>
          </a:p>
        </p:txBody>
      </p:sp>
      <p:sp>
        <p:nvSpPr>
          <p:cNvPr id="35" name="Text 28"/>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36" name="Text 29"/>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02 · rag by hand</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Naive RAG: the wiring, fully exposed</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11</a:t>
            </a:r>
            <a:endParaRPr lang="en-US" sz="4000" dirty="0"/>
          </a:p>
        </p:txBody>
      </p:sp>
      <p:sp>
        <p:nvSpPr>
          <p:cNvPr id="5" name="Shape 3"/>
          <p:cNvSpPr/>
          <p:nvPr/>
        </p:nvSpPr>
        <p:spPr>
          <a:xfrm>
            <a:off x="640080" y="2240280"/>
            <a:ext cx="6766560" cy="3657600"/>
          </a:xfrm>
          <a:prstGeom prst="roundRect">
            <a:avLst>
              <a:gd name="adj" fmla="val 1500"/>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841248" y="2423160"/>
            <a:ext cx="109728" cy="109728"/>
          </a:xfrm>
          <a:prstGeom prst="ellipse">
            <a:avLst/>
          </a:prstGeom>
          <a:solidFill>
            <a:srgbClr val="FF5F57"/>
          </a:solidFill>
          <a:ln/>
        </p:spPr>
      </p:sp>
      <p:sp>
        <p:nvSpPr>
          <p:cNvPr id="7" name="Shape 5"/>
          <p:cNvSpPr/>
          <p:nvPr/>
        </p:nvSpPr>
        <p:spPr>
          <a:xfrm>
            <a:off x="1024128" y="2423160"/>
            <a:ext cx="109728" cy="109728"/>
          </a:xfrm>
          <a:prstGeom prst="ellipse">
            <a:avLst/>
          </a:prstGeom>
          <a:solidFill>
            <a:srgbClr val="FEBC2E"/>
          </a:solidFill>
          <a:ln/>
        </p:spPr>
      </p:sp>
      <p:sp>
        <p:nvSpPr>
          <p:cNvPr id="8" name="Shape 6"/>
          <p:cNvSpPr/>
          <p:nvPr/>
        </p:nvSpPr>
        <p:spPr>
          <a:xfrm>
            <a:off x="1207008" y="2423160"/>
            <a:ext cx="109728" cy="109728"/>
          </a:xfrm>
          <a:prstGeom prst="ellipse">
            <a:avLst/>
          </a:prstGeom>
          <a:solidFill>
            <a:srgbClr val="28C840"/>
          </a:solidFill>
          <a:ln/>
        </p:spPr>
      </p:sp>
      <p:sp>
        <p:nvSpPr>
          <p:cNvPr id="9" name="Text 7"/>
          <p:cNvSpPr/>
          <p:nvPr/>
        </p:nvSpPr>
        <p:spPr>
          <a:xfrm>
            <a:off x="1463040" y="2368296"/>
            <a:ext cx="5760720" cy="237744"/>
          </a:xfrm>
          <a:prstGeom prst="rect">
            <a:avLst/>
          </a:prstGeom>
          <a:noFill/>
          <a:ln/>
        </p:spPr>
        <p:txBody>
          <a:bodyPr wrap="square" lIns="0" tIns="0" rIns="0" bIns="0" rtlCol="0" anchor="ctr"/>
          <a:lstStyle/>
          <a:p>
            <a:pPr algn="l" indent="0" marL="0">
              <a:buNone/>
            </a:pPr>
            <a:r>
              <a:rPr lang="en-US" sz="1050" dirty="0">
                <a:solidFill>
                  <a:srgbClr val="8294AE"/>
                </a:solidFill>
                <a:latin typeface="Courier New" pitchFamily="34" charset="0"/>
                <a:ea typeface="Courier New" pitchFamily="34" charset="-122"/>
                <a:cs typeface="Courier New" pitchFamily="34" charset="-120"/>
              </a:rPr>
              <a:t>NaiveRagAugmentorSupplier.java</a:t>
            </a:r>
            <a:endParaRPr lang="en-US" sz="1050" dirty="0"/>
          </a:p>
        </p:txBody>
      </p:sp>
      <p:sp>
        <p:nvSpPr>
          <p:cNvPr id="10" name="Text 8"/>
          <p:cNvSpPr/>
          <p:nvPr/>
        </p:nvSpPr>
        <p:spPr>
          <a:xfrm>
            <a:off x="896112" y="2697480"/>
            <a:ext cx="6309360" cy="3017520"/>
          </a:xfrm>
          <a:prstGeom prst="rect">
            <a:avLst/>
          </a:prstGeom>
          <a:noFill/>
          <a:ln/>
        </p:spPr>
        <p:txBody>
          <a:bodyPr wrap="square" lIns="0" tIns="0" rIns="0" bIns="0" rtlCol="0" anchor="t"/>
          <a:lstStyle/>
          <a:p>
            <a:pPr algn="l" indent="0" marL="0">
              <a:lnSpc>
                <a:spcPct val="118000"/>
              </a:lnSpc>
              <a:buNone/>
            </a:pPr>
            <a:r>
              <a:rPr lang="en-US" sz="1250" i="1" dirty="0">
                <a:solidFill>
                  <a:srgbClr val="8294AE"/>
                </a:solidFill>
                <a:latin typeface="Courier New" pitchFamily="34" charset="0"/>
                <a:ea typeface="Courier New" pitchFamily="34" charset="-122"/>
                <a:cs typeface="Courier New" pitchFamily="34" charset="-120"/>
              </a:rPr>
              <a:t>// 1 — a retriever over your embedding store</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var retriever = EmbeddingStoreContentRetriever.builder()</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.embeddingStore(store).embeddingModel(model)</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.maxResults(3).build();</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a:t>
            </a:r>
            <a:endParaRPr lang="en-US" sz="1250" dirty="0"/>
          </a:p>
          <a:p>
            <a:pPr algn="l" indent="0" marL="0">
              <a:lnSpc>
                <a:spcPct val="118000"/>
              </a:lnSpc>
              <a:buNone/>
            </a:pPr>
            <a:r>
              <a:rPr lang="en-US" sz="1250" i="1" dirty="0">
                <a:solidFill>
                  <a:srgbClr val="8294AE"/>
                </a:solidFill>
                <a:latin typeface="Courier New" pitchFamily="34" charset="0"/>
                <a:ea typeface="Courier New" pitchFamily="34" charset="-122"/>
                <a:cs typeface="Courier New" pitchFamily="34" charset="-120"/>
              </a:rPr>
              <a:t>// 2 — an augmentor that injects what it finds</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return DefaultRetrievalAugmentor.builder()</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.contentRetriever(retriever)</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.contentInjector(/* paste chunks into prompt */)</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    .build();</a:t>
            </a:r>
            <a:endParaRPr lang="en-US" sz="1250" dirty="0"/>
          </a:p>
        </p:txBody>
      </p:sp>
      <p:sp>
        <p:nvSpPr>
          <p:cNvPr id="11" name="Text 9"/>
          <p:cNvSpPr/>
          <p:nvPr/>
        </p:nvSpPr>
        <p:spPr>
          <a:xfrm>
            <a:off x="7772400" y="2286000"/>
            <a:ext cx="3779215" cy="41148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Read this once</a:t>
            </a:r>
            <a:endParaRPr lang="en-US" sz="1800" dirty="0"/>
          </a:p>
        </p:txBody>
      </p:sp>
      <p:sp>
        <p:nvSpPr>
          <p:cNvPr id="12" name="Text 10"/>
          <p:cNvSpPr/>
          <p:nvPr/>
        </p:nvSpPr>
        <p:spPr>
          <a:xfrm>
            <a:off x="7772400" y="2788920"/>
            <a:ext cx="3779215" cy="2926080"/>
          </a:xfrm>
          <a:prstGeom prst="rect">
            <a:avLst/>
          </a:prstGeom>
          <a:noFill/>
          <a:ln/>
        </p:spPr>
        <p:txBody>
          <a:bodyPr wrap="square" lIns="0" tIns="0" rIns="0" bIns="0" rtlCol="0" anchor="t"/>
          <a:lstStyle/>
          <a:p>
            <a:pPr algn="l" indent="0" marL="0">
              <a:lnSpc>
                <a:spcPct val="112000"/>
              </a:lnSpc>
              <a:buNone/>
            </a:pPr>
            <a:r>
              <a:rPr lang="en-US" sz="1450" b="1" dirty="0">
                <a:solidFill>
                  <a:srgbClr val="34D399"/>
                </a:solidFill>
                <a:latin typeface="Calibri" pitchFamily="34" charset="0"/>
                <a:ea typeface="Calibri" pitchFamily="34" charset="-122"/>
                <a:cs typeface="Calibri" pitchFamily="34" charset="-120"/>
              </a:rPr>
              <a:t>This is the entire trick. </a:t>
            </a:r>
            <a:endParaRPr lang="en-US" sz="1450" dirty="0"/>
          </a:p>
          <a:p>
            <a:pPr algn="l" indent="0" marL="0">
              <a:lnSpc>
                <a:spcPct val="112000"/>
              </a:lnSpc>
              <a:buNone/>
            </a:pPr>
            <a:r>
              <a:rPr lang="en-US" sz="1450" dirty="0">
                <a:solidFill>
                  <a:srgbClr val="CBD5E1"/>
                </a:solidFill>
                <a:latin typeface="Calibri" pitchFamily="34" charset="0"/>
                <a:ea typeface="Calibri" pitchFamily="34" charset="-122"/>
                <a:cs typeface="Calibri" pitchFamily="34" charset="-120"/>
              </a:rPr>
              <a:t>A retriever finds relevant chunks; an injector pastes them into the prompt. No framework is hiding anything subtle from you.</a:t>
            </a:r>
            <a:endParaRPr lang="en-US" sz="1450" dirty="0"/>
          </a:p>
          <a:p>
            <a:pPr algn="l" indent="0" marL="0">
              <a:lnSpc>
                <a:spcPct val="112000"/>
              </a:lnSpc>
              <a:buNone/>
            </a:pPr>
            <a:r>
              <a:rPr lang="en-US" sz="1450" dirty="0">
                <a:solidFill>
                  <a:srgbClr val="000000"/>
                </a:solidFill>
                <a:latin typeface="Calibri" pitchFamily="34" charset="0"/>
                <a:ea typeface="Calibri" pitchFamily="34" charset="-122"/>
                <a:cs typeface="Calibri" pitchFamily="34" charset="-120"/>
              </a:rPr>
              <a:t>
</a:t>
            </a:r>
            <a:endParaRPr lang="en-US" sz="1450" dirty="0"/>
          </a:p>
          <a:p>
            <a:pPr algn="l" indent="0" marL="0">
              <a:lnSpc>
                <a:spcPct val="112000"/>
              </a:lnSpc>
              <a:buNone/>
            </a:pPr>
            <a:r>
              <a:rPr lang="en-US" sz="1450" i="1" dirty="0">
                <a:solidFill>
                  <a:srgbClr val="8294AE"/>
                </a:solidFill>
                <a:latin typeface="Calibri" pitchFamily="34" charset="0"/>
                <a:ea typeface="Calibri" pitchFamily="34" charset="-122"/>
                <a:cs typeface="Calibri" pitchFamily="34" charset="-120"/>
              </a:rPr>
              <a:t>Worth showing the audience once — then never typing again, because of the next slide.</a:t>
            </a:r>
            <a:endParaRPr lang="en-US" sz="1450" dirty="0"/>
          </a:p>
        </p:txBody>
      </p:sp>
      <p:sp>
        <p:nvSpPr>
          <p:cNvPr id="14" name="Text 11"/>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15" name="Text 12"/>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BBF24"/>
                </a:solidFill>
                <a:latin typeface="Courier New" pitchFamily="34" charset="0"/>
                <a:ea typeface="Courier New" pitchFamily="34" charset="-122"/>
                <a:cs typeface="Courier New" pitchFamily="34" charset="-120"/>
              </a:rPr>
              <a:t>// 03 · rag by config</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Easy RAG: same answer, the code deleted</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12</a:t>
            </a:r>
            <a:endParaRPr lang="en-US" sz="4000" dirty="0"/>
          </a:p>
        </p:txBody>
      </p:sp>
      <p:sp>
        <p:nvSpPr>
          <p:cNvPr id="5" name="Shape 3"/>
          <p:cNvSpPr/>
          <p:nvPr/>
        </p:nvSpPr>
        <p:spPr>
          <a:xfrm>
            <a:off x="640080" y="2240280"/>
            <a:ext cx="5120640" cy="1737360"/>
          </a:xfrm>
          <a:prstGeom prst="roundRect">
            <a:avLst>
              <a:gd name="adj" fmla="val 3158"/>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841248" y="2423160"/>
            <a:ext cx="109728" cy="109728"/>
          </a:xfrm>
          <a:prstGeom prst="ellipse">
            <a:avLst/>
          </a:prstGeom>
          <a:solidFill>
            <a:srgbClr val="FF5F57"/>
          </a:solidFill>
          <a:ln/>
        </p:spPr>
      </p:sp>
      <p:sp>
        <p:nvSpPr>
          <p:cNvPr id="7" name="Shape 5"/>
          <p:cNvSpPr/>
          <p:nvPr/>
        </p:nvSpPr>
        <p:spPr>
          <a:xfrm>
            <a:off x="1024128" y="2423160"/>
            <a:ext cx="109728" cy="109728"/>
          </a:xfrm>
          <a:prstGeom prst="ellipse">
            <a:avLst/>
          </a:prstGeom>
          <a:solidFill>
            <a:srgbClr val="FEBC2E"/>
          </a:solidFill>
          <a:ln/>
        </p:spPr>
      </p:sp>
      <p:sp>
        <p:nvSpPr>
          <p:cNvPr id="8" name="Shape 6"/>
          <p:cNvSpPr/>
          <p:nvPr/>
        </p:nvSpPr>
        <p:spPr>
          <a:xfrm>
            <a:off x="1207008" y="2423160"/>
            <a:ext cx="109728" cy="109728"/>
          </a:xfrm>
          <a:prstGeom prst="ellipse">
            <a:avLst/>
          </a:prstGeom>
          <a:solidFill>
            <a:srgbClr val="28C840"/>
          </a:solidFill>
          <a:ln/>
        </p:spPr>
      </p:sp>
      <p:sp>
        <p:nvSpPr>
          <p:cNvPr id="9" name="Text 7"/>
          <p:cNvSpPr/>
          <p:nvPr/>
        </p:nvSpPr>
        <p:spPr>
          <a:xfrm>
            <a:off x="1463040" y="2368296"/>
            <a:ext cx="4114800" cy="237744"/>
          </a:xfrm>
          <a:prstGeom prst="rect">
            <a:avLst/>
          </a:prstGeom>
          <a:noFill/>
          <a:ln/>
        </p:spPr>
        <p:txBody>
          <a:bodyPr wrap="square" lIns="0" tIns="0" rIns="0" bIns="0" rtlCol="0" anchor="ctr"/>
          <a:lstStyle/>
          <a:p>
            <a:pPr algn="l" indent="0" marL="0">
              <a:buNone/>
            </a:pPr>
            <a:r>
              <a:rPr lang="en-US" sz="1050" dirty="0">
                <a:solidFill>
                  <a:srgbClr val="8294AE"/>
                </a:solidFill>
                <a:latin typeface="Courier New" pitchFamily="34" charset="0"/>
                <a:ea typeface="Courier New" pitchFamily="34" charset="-122"/>
                <a:cs typeface="Courier New" pitchFamily="34" charset="-120"/>
              </a:rPr>
              <a:t>EasyRagAiService.java</a:t>
            </a:r>
            <a:endParaRPr lang="en-US" sz="1050" dirty="0"/>
          </a:p>
        </p:txBody>
      </p:sp>
      <p:sp>
        <p:nvSpPr>
          <p:cNvPr id="10" name="Text 8"/>
          <p:cNvSpPr/>
          <p:nvPr/>
        </p:nvSpPr>
        <p:spPr>
          <a:xfrm>
            <a:off x="896112" y="2697480"/>
            <a:ext cx="4663440" cy="1097280"/>
          </a:xfrm>
          <a:prstGeom prst="rect">
            <a:avLst/>
          </a:prstGeom>
          <a:noFill/>
          <a:ln/>
        </p:spPr>
        <p:txBody>
          <a:bodyPr wrap="square" lIns="0" tIns="0" rIns="0" bIns="0" rtlCol="0" anchor="t"/>
          <a:lstStyle/>
          <a:p>
            <a:pPr algn="l" indent="0" marL="0">
              <a:lnSpc>
                <a:spcPct val="118000"/>
              </a:lnSpc>
              <a:buNone/>
            </a:pPr>
            <a:r>
              <a:rPr lang="en-US" sz="1300" dirty="0">
                <a:solidFill>
                  <a:srgbClr val="FBBF24"/>
                </a:solidFill>
                <a:latin typeface="Courier New" pitchFamily="34" charset="0"/>
                <a:ea typeface="Courier New" pitchFamily="34" charset="-122"/>
                <a:cs typeface="Courier New" pitchFamily="34" charset="-120"/>
              </a:rPr>
              <a:t>@RegisterAiService</a:t>
            </a:r>
            <a:endParaRPr lang="en-US" sz="1300" dirty="0"/>
          </a:p>
          <a:p>
            <a:pPr algn="l" indent="0" marL="0">
              <a:lnSpc>
                <a:spcPct val="118000"/>
              </a:lnSpc>
              <a:buNone/>
            </a:pPr>
            <a:r>
              <a:rPr lang="en-US" sz="1300" dirty="0">
                <a:solidFill>
                  <a:srgbClr val="CBD5E1"/>
                </a:solidFill>
                <a:latin typeface="Courier New" pitchFamily="34" charset="0"/>
                <a:ea typeface="Courier New" pitchFamily="34" charset="-122"/>
                <a:cs typeface="Courier New" pitchFamily="34" charset="-120"/>
              </a:rPr>
              <a:t>public interface EasyRagAiService {</a:t>
            </a:r>
            <a:endParaRPr lang="en-US" sz="1300" dirty="0"/>
          </a:p>
          <a:p>
            <a:pPr algn="l" indent="0" marL="0">
              <a:lnSpc>
                <a:spcPct val="118000"/>
              </a:lnSpc>
              <a:buNone/>
            </a:pPr>
            <a:r>
              <a:rPr lang="en-US" sz="1300" dirty="0">
                <a:solidFill>
                  <a:srgbClr val="CBD5E1"/>
                </a:solidFill>
                <a:latin typeface="Courier New" pitchFamily="34" charset="0"/>
                <a:ea typeface="Courier New" pitchFamily="34" charset="-122"/>
                <a:cs typeface="Courier New" pitchFamily="34" charset="-120"/>
              </a:rPr>
              <a:t>    String chat(String question);</a:t>
            </a:r>
            <a:endParaRPr lang="en-US" sz="1300" dirty="0"/>
          </a:p>
          <a:p>
            <a:pPr algn="l" indent="0" marL="0">
              <a:lnSpc>
                <a:spcPct val="118000"/>
              </a:lnSpc>
              <a:buNone/>
            </a:pPr>
            <a:r>
              <a:rPr lang="en-US" sz="1300" dirty="0">
                <a:solidFill>
                  <a:srgbClr val="CBD5E1"/>
                </a:solidFill>
                <a:latin typeface="Courier New" pitchFamily="34" charset="0"/>
                <a:ea typeface="Courier New" pitchFamily="34" charset="-122"/>
                <a:cs typeface="Courier New" pitchFamily="34" charset="-120"/>
              </a:rPr>
              <a:t>}</a:t>
            </a:r>
            <a:endParaRPr lang="en-US" sz="1300" dirty="0"/>
          </a:p>
          <a:p>
            <a:pPr algn="l" indent="0" marL="0">
              <a:lnSpc>
                <a:spcPct val="118000"/>
              </a:lnSpc>
              <a:buNone/>
            </a:pPr>
            <a:r>
              <a:rPr lang="en-US" sz="1300" i="1" dirty="0">
                <a:solidFill>
                  <a:srgbClr val="8294AE"/>
                </a:solidFill>
                <a:latin typeface="Courier New" pitchFamily="34" charset="0"/>
                <a:ea typeface="Courier New" pitchFamily="34" charset="-122"/>
                <a:cs typeface="Courier New" pitchFamily="34" charset="-120"/>
              </a:rPr>
              <a:t>// ↑ no retrieval code at all</a:t>
            </a:r>
            <a:endParaRPr lang="en-US" sz="1300" dirty="0"/>
          </a:p>
        </p:txBody>
      </p:sp>
      <p:sp>
        <p:nvSpPr>
          <p:cNvPr id="11" name="Shape 9"/>
          <p:cNvSpPr/>
          <p:nvPr/>
        </p:nvSpPr>
        <p:spPr>
          <a:xfrm>
            <a:off x="640080" y="4160520"/>
            <a:ext cx="5120640" cy="1783080"/>
          </a:xfrm>
          <a:prstGeom prst="roundRect">
            <a:avLst>
              <a:gd name="adj" fmla="val 3077"/>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2" name="Shape 10"/>
          <p:cNvSpPr/>
          <p:nvPr/>
        </p:nvSpPr>
        <p:spPr>
          <a:xfrm>
            <a:off x="841248" y="4343400"/>
            <a:ext cx="109728" cy="109728"/>
          </a:xfrm>
          <a:prstGeom prst="ellipse">
            <a:avLst/>
          </a:prstGeom>
          <a:solidFill>
            <a:srgbClr val="FF5F57"/>
          </a:solidFill>
          <a:ln/>
        </p:spPr>
      </p:sp>
      <p:sp>
        <p:nvSpPr>
          <p:cNvPr id="13" name="Shape 11"/>
          <p:cNvSpPr/>
          <p:nvPr/>
        </p:nvSpPr>
        <p:spPr>
          <a:xfrm>
            <a:off x="1024128" y="4343400"/>
            <a:ext cx="109728" cy="109728"/>
          </a:xfrm>
          <a:prstGeom prst="ellipse">
            <a:avLst/>
          </a:prstGeom>
          <a:solidFill>
            <a:srgbClr val="FEBC2E"/>
          </a:solidFill>
          <a:ln/>
        </p:spPr>
      </p:sp>
      <p:sp>
        <p:nvSpPr>
          <p:cNvPr id="14" name="Shape 12"/>
          <p:cNvSpPr/>
          <p:nvPr/>
        </p:nvSpPr>
        <p:spPr>
          <a:xfrm>
            <a:off x="1207008" y="4343400"/>
            <a:ext cx="109728" cy="109728"/>
          </a:xfrm>
          <a:prstGeom prst="ellipse">
            <a:avLst/>
          </a:prstGeom>
          <a:solidFill>
            <a:srgbClr val="28C840"/>
          </a:solidFill>
          <a:ln/>
        </p:spPr>
      </p:sp>
      <p:sp>
        <p:nvSpPr>
          <p:cNvPr id="15" name="Text 13"/>
          <p:cNvSpPr/>
          <p:nvPr/>
        </p:nvSpPr>
        <p:spPr>
          <a:xfrm>
            <a:off x="1463040" y="4288536"/>
            <a:ext cx="4114800" cy="237744"/>
          </a:xfrm>
          <a:prstGeom prst="rect">
            <a:avLst/>
          </a:prstGeom>
          <a:noFill/>
          <a:ln/>
        </p:spPr>
        <p:txBody>
          <a:bodyPr wrap="square" lIns="0" tIns="0" rIns="0" bIns="0" rtlCol="0" anchor="ctr"/>
          <a:lstStyle/>
          <a:p>
            <a:pPr algn="l" indent="0" marL="0">
              <a:buNone/>
            </a:pPr>
            <a:r>
              <a:rPr lang="en-US" sz="1050" dirty="0">
                <a:solidFill>
                  <a:srgbClr val="8294AE"/>
                </a:solidFill>
                <a:latin typeface="Courier New" pitchFamily="34" charset="0"/>
                <a:ea typeface="Courier New" pitchFamily="34" charset="-122"/>
                <a:cs typeface="Courier New" pitchFamily="34" charset="-120"/>
              </a:rPr>
              <a:t>application.properties</a:t>
            </a:r>
            <a:endParaRPr lang="en-US" sz="1050" dirty="0"/>
          </a:p>
        </p:txBody>
      </p:sp>
      <p:sp>
        <p:nvSpPr>
          <p:cNvPr id="16" name="Text 14"/>
          <p:cNvSpPr/>
          <p:nvPr/>
        </p:nvSpPr>
        <p:spPr>
          <a:xfrm>
            <a:off x="896112" y="4617720"/>
            <a:ext cx="4663440" cy="1143000"/>
          </a:xfrm>
          <a:prstGeom prst="rect">
            <a:avLst/>
          </a:prstGeom>
          <a:noFill/>
          <a:ln/>
        </p:spPr>
        <p:txBody>
          <a:bodyPr wrap="square" lIns="0" tIns="0" rIns="0" bIns="0" rtlCol="0" anchor="t"/>
          <a:lstStyle/>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quarkus.langchain4j.easy-rag.path=</a:t>
            </a:r>
            <a:endParaRPr lang="en-US" sz="1250" dirty="0"/>
          </a:p>
          <a:p>
            <a:pPr algn="l" indent="0" marL="0">
              <a:lnSpc>
                <a:spcPct val="118000"/>
              </a:lnSpc>
              <a:buNone/>
            </a:pPr>
            <a:r>
              <a:rPr lang="en-US" sz="1250" dirty="0">
                <a:solidFill>
                  <a:srgbClr val="34D399"/>
                </a:solidFill>
                <a:latin typeface="Courier New" pitchFamily="34" charset="0"/>
                <a:ea typeface="Courier New" pitchFamily="34" charset="-122"/>
                <a:cs typeface="Courier New" pitchFamily="34" charset="-120"/>
              </a:rPr>
              <a:t>  src/main/resources/rag</a:t>
            </a:r>
            <a:endParaRPr lang="en-US" sz="1250" dirty="0"/>
          </a:p>
          <a:p>
            <a:pPr algn="l" indent="0" marL="0">
              <a:lnSpc>
                <a:spcPct val="118000"/>
              </a:lnSpc>
              <a:buNone/>
            </a:pPr>
            <a:r>
              <a:rPr lang="en-US" sz="1250" dirty="0">
                <a:solidFill>
                  <a:srgbClr val="CBD5E1"/>
                </a:solidFill>
                <a:latin typeface="Courier New" pitchFamily="34" charset="0"/>
                <a:ea typeface="Courier New" pitchFamily="34" charset="-122"/>
                <a:cs typeface="Courier New" pitchFamily="34" charset="-120"/>
              </a:rPr>
              <a:t>quarkus.langchain4j.easy-rag.max-results=</a:t>
            </a:r>
            <a:endParaRPr lang="en-US" sz="1250" dirty="0"/>
          </a:p>
          <a:p>
            <a:pPr algn="l"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  3</a:t>
            </a:r>
            <a:endParaRPr lang="en-US" sz="1250" dirty="0"/>
          </a:p>
        </p:txBody>
      </p:sp>
      <p:sp>
        <p:nvSpPr>
          <p:cNvPr id="17" name="Text 15"/>
          <p:cNvSpPr/>
          <p:nvPr/>
        </p:nvSpPr>
        <p:spPr>
          <a:xfrm>
            <a:off x="6126480" y="2286000"/>
            <a:ext cx="5425135" cy="41148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The extension did the rest</a:t>
            </a:r>
            <a:endParaRPr lang="en-US" sz="1800" dirty="0"/>
          </a:p>
        </p:txBody>
      </p:sp>
      <p:pic>
        <p:nvPicPr>
          <p:cNvPr id="18" name="Image 0" descr="preencoded.png">    </p:cNvPr>
          <p:cNvPicPr>
            <a:picLocks noChangeAspect="1"/>
          </p:cNvPicPr>
          <p:nvPr/>
        </p:nvPicPr>
        <p:blipFill>
          <a:blip r:embed="rId1"/>
          <a:stretch>
            <a:fillRect/>
          </a:stretch>
        </p:blipFill>
        <p:spPr>
          <a:xfrm>
            <a:off x="6126480" y="2862072"/>
            <a:ext cx="292608" cy="292608"/>
          </a:xfrm>
          <a:prstGeom prst="rect">
            <a:avLst/>
          </a:prstGeom>
        </p:spPr>
      </p:pic>
      <p:sp>
        <p:nvSpPr>
          <p:cNvPr id="19" name="Text 16"/>
          <p:cNvSpPr/>
          <p:nvPr/>
        </p:nvSpPr>
        <p:spPr>
          <a:xfrm>
            <a:off x="6583680" y="2834640"/>
            <a:ext cx="4967935" cy="54864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Scanned the folder, parsed every PDF (Apache Tika)</a:t>
            </a:r>
            <a:endParaRPr lang="en-US" sz="1400" dirty="0"/>
          </a:p>
        </p:txBody>
      </p:sp>
      <p:pic>
        <p:nvPicPr>
          <p:cNvPr id="20" name="Image 1" descr="preencoded.png">    </p:cNvPr>
          <p:cNvPicPr>
            <a:picLocks noChangeAspect="1"/>
          </p:cNvPicPr>
          <p:nvPr/>
        </p:nvPicPr>
        <p:blipFill>
          <a:blip r:embed="rId2"/>
          <a:stretch>
            <a:fillRect/>
          </a:stretch>
        </p:blipFill>
        <p:spPr>
          <a:xfrm>
            <a:off x="6126480" y="3520440"/>
            <a:ext cx="292608" cy="292608"/>
          </a:xfrm>
          <a:prstGeom prst="rect">
            <a:avLst/>
          </a:prstGeom>
        </p:spPr>
      </p:pic>
      <p:sp>
        <p:nvSpPr>
          <p:cNvPr id="21" name="Text 17"/>
          <p:cNvSpPr/>
          <p:nvPr/>
        </p:nvSpPr>
        <p:spPr>
          <a:xfrm>
            <a:off x="6583680" y="3493008"/>
            <a:ext cx="4967935" cy="54864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Chunked + embedded them into an in-memory store</a:t>
            </a:r>
            <a:endParaRPr lang="en-US" sz="1400" dirty="0"/>
          </a:p>
        </p:txBody>
      </p:sp>
      <p:pic>
        <p:nvPicPr>
          <p:cNvPr id="22" name="Image 2" descr="preencoded.png">    </p:cNvPr>
          <p:cNvPicPr>
            <a:picLocks noChangeAspect="1"/>
          </p:cNvPicPr>
          <p:nvPr/>
        </p:nvPicPr>
        <p:blipFill>
          <a:blip r:embed="rId3"/>
          <a:stretch>
            <a:fillRect/>
          </a:stretch>
        </p:blipFill>
        <p:spPr>
          <a:xfrm>
            <a:off x="6126480" y="4178808"/>
            <a:ext cx="292608" cy="292608"/>
          </a:xfrm>
          <a:prstGeom prst="rect">
            <a:avLst/>
          </a:prstGeom>
        </p:spPr>
      </p:pic>
      <p:sp>
        <p:nvSpPr>
          <p:cNvPr id="23" name="Text 18"/>
          <p:cNvSpPr/>
          <p:nvPr/>
        </p:nvSpPr>
        <p:spPr>
          <a:xfrm>
            <a:off x="6583680" y="4151376"/>
            <a:ext cx="4967935" cy="548640"/>
          </a:xfrm>
          <a:prstGeom prst="rect">
            <a:avLst/>
          </a:prstGeom>
          <a:noFill/>
          <a:ln/>
        </p:spPr>
        <p:txBody>
          <a:bodyPr wrap="square" lIns="0" tIns="0" rIns="0" bIns="0" rtlCol="0" anchor="ctr"/>
          <a:lstStyle/>
          <a:p>
            <a:pPr algn="l" indent="0" marL="0">
              <a:buNone/>
            </a:pPr>
            <a:r>
              <a:rPr lang="en-US" sz="1400" dirty="0">
                <a:solidFill>
                  <a:srgbClr val="CBD5E1"/>
                </a:solidFill>
                <a:latin typeface="Calibri" pitchFamily="34" charset="0"/>
                <a:ea typeface="Calibri" pitchFamily="34" charset="-122"/>
                <a:cs typeface="Calibri" pitchFamily="34" charset="-120"/>
              </a:rPr>
              <a:t>Built a default retriever and wired it to your service</a:t>
            </a:r>
            <a:endParaRPr lang="en-US" sz="1400" dirty="0"/>
          </a:p>
        </p:txBody>
      </p:sp>
      <p:sp>
        <p:nvSpPr>
          <p:cNvPr id="24" name="Shape 19"/>
          <p:cNvSpPr/>
          <p:nvPr/>
        </p:nvSpPr>
        <p:spPr>
          <a:xfrm>
            <a:off x="6126480" y="5029200"/>
            <a:ext cx="5425135" cy="914400"/>
          </a:xfrm>
          <a:prstGeom prst="roundRect">
            <a:avLst>
              <a:gd name="adj" fmla="val 8000"/>
            </a:avLst>
          </a:prstGeom>
          <a:solidFill>
            <a:srgbClr val="16202F"/>
          </a:solidFill>
          <a:ln w="12700">
            <a:solidFill>
              <a:srgbClr val="FBBF24"/>
            </a:solidFill>
            <a:prstDash val="solid"/>
          </a:ln>
        </p:spPr>
      </p:sp>
      <p:sp>
        <p:nvSpPr>
          <p:cNvPr id="25" name="Text 20"/>
          <p:cNvSpPr/>
          <p:nvPr/>
        </p:nvSpPr>
        <p:spPr>
          <a:xfrm>
            <a:off x="6355080" y="5029200"/>
            <a:ext cx="4967935" cy="914400"/>
          </a:xfrm>
          <a:prstGeom prst="rect">
            <a:avLst/>
          </a:prstGeom>
          <a:noFill/>
          <a:ln/>
        </p:spPr>
        <p:txBody>
          <a:bodyPr wrap="square" lIns="0" tIns="0" rIns="0" bIns="0" rtlCol="0" anchor="ctr"/>
          <a:lstStyle/>
          <a:p>
            <a:pPr algn="l" indent="0" marL="0">
              <a:buNone/>
            </a:pPr>
            <a:r>
              <a:rPr lang="en-US" sz="1350" b="1" dirty="0">
                <a:solidFill>
                  <a:srgbClr val="FBBF24"/>
                </a:solidFill>
                <a:latin typeface="Calibri" pitchFamily="34" charset="0"/>
                <a:ea typeface="Calibri" pitchFamily="34" charset="-122"/>
                <a:cs typeface="Calibri" pitchFamily="34" charset="-120"/>
              </a:rPr>
              <a:t>Slide 11's wiring, replaced by one path. </a:t>
            </a:r>
            <a:pPr algn="l" indent="0" marL="0">
              <a:buNone/>
            </a:pPr>
            <a:r>
              <a:rPr lang="en-US" sz="1350" dirty="0">
                <a:solidFill>
                  <a:srgbClr val="CBD5E1"/>
                </a:solidFill>
                <a:latin typeface="Calibri" pitchFamily="34" charset="0"/>
                <a:ea typeface="Calibri" pitchFamily="34" charset="-122"/>
                <a:cs typeface="Calibri" pitchFamily="34" charset="-120"/>
              </a:rPr>
              <a:t>Great default — until you need to tune retrieval. Then you reach back for the explicit version.</a:t>
            </a:r>
            <a:endParaRPr lang="en-US" sz="1350" dirty="0"/>
          </a:p>
        </p:txBody>
      </p:sp>
      <p:sp>
        <p:nvSpPr>
          <p:cNvPr id="27" name="Text 21"/>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8" name="Text 22"/>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CBD5E1"/>
                </a:solidFill>
                <a:latin typeface="Courier New" pitchFamily="34" charset="0"/>
                <a:ea typeface="Courier New" pitchFamily="34" charset="-122"/>
                <a:cs typeface="Courier New" pitchFamily="34" charset="-120"/>
              </a:rPr>
              <a:t>// 04 · rag, tuned</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When retrieval misses, fix the question — not the model</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13</a:t>
            </a:r>
            <a:endParaRPr lang="en-US" sz="4000" dirty="0"/>
          </a:p>
        </p:txBody>
      </p:sp>
      <p:sp>
        <p:nvSpPr>
          <p:cNvPr id="5" name="Shape 3"/>
          <p:cNvSpPr/>
          <p:nvPr/>
        </p:nvSpPr>
        <p:spPr>
          <a:xfrm>
            <a:off x="640080" y="2286000"/>
            <a:ext cx="5212080" cy="1554480"/>
          </a:xfrm>
          <a:prstGeom prst="roundRect">
            <a:avLst>
              <a:gd name="adj" fmla="val 4706"/>
            </a:avLst>
          </a:prstGeom>
          <a:solidFill>
            <a:srgbClr val="2A1822"/>
          </a:solidFill>
          <a:ln w="12700">
            <a:solidFill>
              <a:srgbClr val="FF4D6A"/>
            </a:solidFill>
            <a:prstDash val="solid"/>
          </a:ln>
          <a:effectLst>
            <a:outerShdw sx="100000" sy="100000" kx="0" ky="0" algn="bl" rotWithShape="0" blurRad="114300" dist="38100" dir="5400000">
              <a:srgbClr val="000000">
                <a:alpha val="28000"/>
              </a:srgbClr>
            </a:outerShdw>
          </a:effectLst>
        </p:spPr>
      </p:sp>
      <p:sp>
        <p:nvSpPr>
          <p:cNvPr id="6" name="Text 4"/>
          <p:cNvSpPr/>
          <p:nvPr/>
        </p:nvSpPr>
        <p:spPr>
          <a:xfrm>
            <a:off x="914400" y="2423160"/>
            <a:ext cx="4663440" cy="365760"/>
          </a:xfrm>
          <a:prstGeom prst="rect">
            <a:avLst/>
          </a:prstGeom>
          <a:noFill/>
          <a:ln/>
        </p:spPr>
        <p:txBody>
          <a:bodyPr wrap="square" lIns="0" tIns="0" rIns="0" bIns="0" rtlCol="0" anchor="t"/>
          <a:lstStyle/>
          <a:p>
            <a:pPr algn="l" indent="0" marL="0">
              <a:buNone/>
            </a:pPr>
            <a:r>
              <a:rPr lang="en-US" sz="1400" b="1" dirty="0">
                <a:solidFill>
                  <a:srgbClr val="FF4D6A"/>
                </a:solidFill>
                <a:latin typeface="Arial" pitchFamily="34" charset="0"/>
                <a:ea typeface="Arial" pitchFamily="34" charset="-122"/>
                <a:cs typeface="Arial" pitchFamily="34" charset="-120"/>
              </a:rPr>
              <a:t>Vague question → weak retrieval</a:t>
            </a:r>
            <a:endParaRPr lang="en-US" sz="1400" dirty="0"/>
          </a:p>
        </p:txBody>
      </p:sp>
      <p:sp>
        <p:nvSpPr>
          <p:cNvPr id="7" name="Text 5"/>
          <p:cNvSpPr/>
          <p:nvPr/>
        </p:nvSpPr>
        <p:spPr>
          <a:xfrm>
            <a:off x="914400" y="2834640"/>
            <a:ext cx="4663440" cy="457200"/>
          </a:xfrm>
          <a:prstGeom prst="rect">
            <a:avLst/>
          </a:prstGeom>
          <a:noFill/>
          <a:ln/>
        </p:spPr>
        <p:txBody>
          <a:bodyPr wrap="square" lIns="0" tIns="0" rIns="0" bIns="0" rtlCol="0" anchor="t"/>
          <a:lstStyle/>
          <a:p>
            <a:pPr algn="l" indent="0" marL="0">
              <a:buNone/>
            </a:pPr>
            <a:r>
              <a:rPr lang="en-US" sz="1400" i="1" dirty="0">
                <a:solidFill>
                  <a:srgbClr val="CBD5E1"/>
                </a:solidFill>
                <a:latin typeface="Calibri" pitchFamily="34" charset="0"/>
                <a:ea typeface="Calibri" pitchFamily="34" charset="-122"/>
                <a:cs typeface="Calibri" pitchFamily="34" charset="-120"/>
              </a:rPr>
              <a:t>“What about the time-off thing they mentioned?”</a:t>
            </a:r>
            <a:endParaRPr lang="en-US" sz="1400" dirty="0"/>
          </a:p>
        </p:txBody>
      </p:sp>
      <p:sp>
        <p:nvSpPr>
          <p:cNvPr id="8" name="Text 6"/>
          <p:cNvSpPr/>
          <p:nvPr/>
        </p:nvSpPr>
        <p:spPr>
          <a:xfrm>
            <a:off x="914400" y="3246120"/>
            <a:ext cx="4663440" cy="548640"/>
          </a:xfrm>
          <a:prstGeom prst="rect">
            <a:avLst/>
          </a:prstGeom>
          <a:noFill/>
          <a:ln/>
        </p:spPr>
        <p:txBody>
          <a:bodyPr wrap="square" lIns="0" tIns="0" rIns="0" bIns="0" rtlCol="0" anchor="t"/>
          <a:lstStyle/>
          <a:p>
            <a:pPr algn="l" indent="0" marL="0">
              <a:buNone/>
            </a:pPr>
            <a:r>
              <a:rPr lang="en-US" sz="1200" dirty="0">
                <a:solidFill>
                  <a:srgbClr val="8294AE"/>
                </a:solidFill>
                <a:latin typeface="Calibri" pitchFamily="34" charset="0"/>
                <a:ea typeface="Calibri" pitchFamily="34" charset="-122"/>
                <a:cs typeface="Calibri" pitchFamily="34" charset="-120"/>
              </a:rPr>
              <a:t>Embeds to a fuzzy vector — nearest chunks are off-target. The model gets bad context, gives a bad answer.</a:t>
            </a:r>
            <a:endParaRPr lang="en-US" sz="1200" dirty="0"/>
          </a:p>
        </p:txBody>
      </p:sp>
      <p:sp>
        <p:nvSpPr>
          <p:cNvPr id="9" name="Shape 7"/>
          <p:cNvSpPr/>
          <p:nvPr/>
        </p:nvSpPr>
        <p:spPr>
          <a:xfrm>
            <a:off x="640080" y="4023360"/>
            <a:ext cx="5212080" cy="1783080"/>
          </a:xfrm>
          <a:prstGeom prst="roundRect">
            <a:avLst>
              <a:gd name="adj" fmla="val 4103"/>
            </a:avLst>
          </a:prstGeom>
          <a:solidFill>
            <a:srgbClr val="1E293B"/>
          </a:solidFill>
          <a:ln w="12700">
            <a:solidFill>
              <a:srgbClr val="34D399"/>
            </a:solidFill>
            <a:prstDash val="solid"/>
          </a:ln>
          <a:effectLst>
            <a:outerShdw sx="100000" sy="100000" kx="0" ky="0" algn="bl" rotWithShape="0" blurRad="114300" dist="38100" dir="5400000">
              <a:srgbClr val="000000">
                <a:alpha val="28000"/>
              </a:srgbClr>
            </a:outerShdw>
          </a:effectLst>
        </p:spPr>
      </p:sp>
      <p:sp>
        <p:nvSpPr>
          <p:cNvPr id="10" name="Text 8"/>
          <p:cNvSpPr/>
          <p:nvPr/>
        </p:nvSpPr>
        <p:spPr>
          <a:xfrm>
            <a:off x="914400" y="4160520"/>
            <a:ext cx="4663440" cy="365760"/>
          </a:xfrm>
          <a:prstGeom prst="rect">
            <a:avLst/>
          </a:prstGeom>
          <a:noFill/>
          <a:ln/>
        </p:spPr>
        <p:txBody>
          <a:bodyPr wrap="square" lIns="0" tIns="0" rIns="0" bIns="0" rtlCol="0" anchor="t"/>
          <a:lstStyle/>
          <a:p>
            <a:pPr algn="l" indent="0" marL="0">
              <a:buNone/>
            </a:pPr>
            <a:r>
              <a:rPr lang="en-US" sz="1400" b="1" dirty="0">
                <a:solidFill>
                  <a:srgbClr val="34D399"/>
                </a:solidFill>
                <a:latin typeface="Arial" pitchFamily="34" charset="0"/>
                <a:ea typeface="Arial" pitchFamily="34" charset="-122"/>
                <a:cs typeface="Arial" pitchFamily="34" charset="-120"/>
              </a:rPr>
              <a:t>A transformer rewrites it first</a:t>
            </a:r>
            <a:endParaRPr lang="en-US" sz="1400" dirty="0"/>
          </a:p>
        </p:txBody>
      </p:sp>
      <p:sp>
        <p:nvSpPr>
          <p:cNvPr id="11" name="Text 9"/>
          <p:cNvSpPr/>
          <p:nvPr/>
        </p:nvSpPr>
        <p:spPr>
          <a:xfrm>
            <a:off x="914400" y="4572000"/>
            <a:ext cx="4663440" cy="457200"/>
          </a:xfrm>
          <a:prstGeom prst="rect">
            <a:avLst/>
          </a:prstGeom>
          <a:noFill/>
          <a:ln/>
        </p:spPr>
        <p:txBody>
          <a:bodyPr wrap="square" lIns="0" tIns="0" rIns="0" bIns="0" rtlCol="0" anchor="t"/>
          <a:lstStyle/>
          <a:p>
            <a:pPr algn="l" indent="0" marL="0">
              <a:buNone/>
            </a:pPr>
            <a:r>
              <a:rPr lang="en-US" sz="1400" i="1" dirty="0">
                <a:solidFill>
                  <a:srgbClr val="CBD5E1"/>
                </a:solidFill>
                <a:latin typeface="Calibri" pitchFamily="34" charset="0"/>
                <a:ea typeface="Calibri" pitchFamily="34" charset="-122"/>
                <a:cs typeface="Calibri" pitchFamily="34" charset="-120"/>
              </a:rPr>
              <a:t>“What is the company's paid time-off / holiday policy?”</a:t>
            </a:r>
            <a:endParaRPr lang="en-US" sz="1400" dirty="0"/>
          </a:p>
        </p:txBody>
      </p:sp>
      <p:sp>
        <p:nvSpPr>
          <p:cNvPr id="12" name="Text 10"/>
          <p:cNvSpPr/>
          <p:nvPr/>
        </p:nvSpPr>
        <p:spPr>
          <a:xfrm>
            <a:off x="914400" y="4983480"/>
            <a:ext cx="4663440" cy="731520"/>
          </a:xfrm>
          <a:prstGeom prst="rect">
            <a:avLst/>
          </a:prstGeom>
          <a:noFill/>
          <a:ln/>
        </p:spPr>
        <p:txBody>
          <a:bodyPr wrap="square" lIns="0" tIns="0" rIns="0" bIns="0" rtlCol="0" anchor="t"/>
          <a:lstStyle/>
          <a:p>
            <a:pPr algn="l" indent="0" marL="0">
              <a:buNone/>
            </a:pPr>
            <a:r>
              <a:rPr lang="en-US" sz="1200" dirty="0">
                <a:solidFill>
                  <a:srgbClr val="8294AE"/>
                </a:solidFill>
                <a:latin typeface="Calibri" pitchFamily="34" charset="0"/>
                <a:ea typeface="Calibri" pitchFamily="34" charset="-122"/>
                <a:cs typeface="Calibri" pitchFamily="34" charset="-120"/>
              </a:rPr>
              <a:t>Sharper vector → the right chunks come back → the answer recovers. Same documents, same model.</a:t>
            </a:r>
            <a:endParaRPr lang="en-US" sz="1200" dirty="0"/>
          </a:p>
        </p:txBody>
      </p:sp>
      <p:sp>
        <p:nvSpPr>
          <p:cNvPr id="13" name="Shape 11"/>
          <p:cNvSpPr/>
          <p:nvPr/>
        </p:nvSpPr>
        <p:spPr>
          <a:xfrm>
            <a:off x="6309360" y="2286000"/>
            <a:ext cx="5242255" cy="1783080"/>
          </a:xfrm>
          <a:prstGeom prst="roundRect">
            <a:avLst>
              <a:gd name="adj" fmla="val 3077"/>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4" name="Shape 12"/>
          <p:cNvSpPr/>
          <p:nvPr/>
        </p:nvSpPr>
        <p:spPr>
          <a:xfrm>
            <a:off x="6510528" y="2468880"/>
            <a:ext cx="109728" cy="109728"/>
          </a:xfrm>
          <a:prstGeom prst="ellipse">
            <a:avLst/>
          </a:prstGeom>
          <a:solidFill>
            <a:srgbClr val="FF5F57"/>
          </a:solidFill>
          <a:ln/>
        </p:spPr>
      </p:sp>
      <p:sp>
        <p:nvSpPr>
          <p:cNvPr id="15" name="Shape 13"/>
          <p:cNvSpPr/>
          <p:nvPr/>
        </p:nvSpPr>
        <p:spPr>
          <a:xfrm>
            <a:off x="6693408" y="2468880"/>
            <a:ext cx="109728" cy="109728"/>
          </a:xfrm>
          <a:prstGeom prst="ellipse">
            <a:avLst/>
          </a:prstGeom>
          <a:solidFill>
            <a:srgbClr val="FEBC2E"/>
          </a:solidFill>
          <a:ln/>
        </p:spPr>
      </p:sp>
      <p:sp>
        <p:nvSpPr>
          <p:cNvPr id="16" name="Shape 14"/>
          <p:cNvSpPr/>
          <p:nvPr/>
        </p:nvSpPr>
        <p:spPr>
          <a:xfrm>
            <a:off x="6876288" y="2468880"/>
            <a:ext cx="109728" cy="109728"/>
          </a:xfrm>
          <a:prstGeom prst="ellipse">
            <a:avLst/>
          </a:prstGeom>
          <a:solidFill>
            <a:srgbClr val="28C840"/>
          </a:solidFill>
          <a:ln/>
        </p:spPr>
      </p:sp>
      <p:sp>
        <p:nvSpPr>
          <p:cNvPr id="17" name="Text 15"/>
          <p:cNvSpPr/>
          <p:nvPr/>
        </p:nvSpPr>
        <p:spPr>
          <a:xfrm>
            <a:off x="7132320" y="2414016"/>
            <a:ext cx="4236415" cy="237744"/>
          </a:xfrm>
          <a:prstGeom prst="rect">
            <a:avLst/>
          </a:prstGeom>
          <a:noFill/>
          <a:ln/>
        </p:spPr>
        <p:txBody>
          <a:bodyPr wrap="square" lIns="0" tIns="0" rIns="0" bIns="0" rtlCol="0" anchor="ctr"/>
          <a:lstStyle/>
          <a:p>
            <a:pPr algn="l" indent="0" marL="0">
              <a:buNone/>
            </a:pPr>
            <a:r>
              <a:rPr lang="en-US" sz="1050" dirty="0">
                <a:solidFill>
                  <a:srgbClr val="8294AE"/>
                </a:solidFill>
                <a:latin typeface="Courier New" pitchFamily="34" charset="0"/>
                <a:ea typeface="Courier New" pitchFamily="34" charset="-122"/>
                <a:cs typeface="Courier New" pitchFamily="34" charset="-120"/>
              </a:rPr>
              <a:t>TransformedRagAugmentorSupplier.java</a:t>
            </a:r>
            <a:endParaRPr lang="en-US" sz="1050" dirty="0"/>
          </a:p>
        </p:txBody>
      </p:sp>
      <p:sp>
        <p:nvSpPr>
          <p:cNvPr id="18" name="Text 16"/>
          <p:cNvSpPr/>
          <p:nvPr/>
        </p:nvSpPr>
        <p:spPr>
          <a:xfrm>
            <a:off x="6565392" y="2743200"/>
            <a:ext cx="4785055" cy="1143000"/>
          </a:xfrm>
          <a:prstGeom prst="rect">
            <a:avLst/>
          </a:prstGeom>
          <a:noFill/>
          <a:ln/>
        </p:spPr>
        <p:txBody>
          <a:bodyPr wrap="square" lIns="0" tIns="0" rIns="0" bIns="0" rtlCol="0" anchor="t"/>
          <a:lstStyle/>
          <a:p>
            <a:pPr algn="l" indent="0" marL="0">
              <a:lnSpc>
                <a:spcPct val="118000"/>
              </a:lnSpc>
              <a:buNone/>
            </a:pPr>
            <a:r>
              <a:rPr lang="en-US" sz="1150" i="1" dirty="0">
                <a:solidFill>
                  <a:srgbClr val="8294AE"/>
                </a:solidFill>
                <a:latin typeface="Courier New" pitchFamily="34" charset="0"/>
                <a:ea typeface="Courier New" pitchFamily="34" charset="-122"/>
                <a:cs typeface="Courier New" pitchFamily="34" charset="-120"/>
              </a:rPr>
              <a:t>// one extra builder call:</a:t>
            </a:r>
            <a:endParaRPr lang="en-US" sz="1150" dirty="0"/>
          </a:p>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DefaultRetrievalAugmentor.builder()</a:t>
            </a:r>
            <a:endParaRPr lang="en-US" sz="1150" dirty="0"/>
          </a:p>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  .queryTransformer(</a:t>
            </a:r>
            <a:endParaRPr lang="en-US" sz="1150" dirty="0"/>
          </a:p>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      new </a:t>
            </a:r>
            <a:endParaRPr lang="en-US" sz="1150" dirty="0"/>
          </a:p>
          <a:p>
            <a:pPr algn="l" indent="0" marL="0">
              <a:lnSpc>
                <a:spcPct val="118000"/>
              </a:lnSpc>
              <a:buNone/>
            </a:pPr>
            <a:r>
              <a:rPr lang="en-US" sz="1150" dirty="0">
                <a:solidFill>
                  <a:srgbClr val="FBBF24"/>
                </a:solidFill>
                <a:latin typeface="Courier New" pitchFamily="34" charset="0"/>
                <a:ea typeface="Courier New" pitchFamily="34" charset="-122"/>
                <a:cs typeface="Courier New" pitchFamily="34" charset="-120"/>
              </a:rPr>
              <a:t>        CompressingQueryTransformer(model))</a:t>
            </a:r>
            <a:endParaRPr lang="en-US" sz="1150" dirty="0"/>
          </a:p>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  .contentRetriever(retriever)...</a:t>
            </a:r>
            <a:endParaRPr lang="en-US" sz="1150" dirty="0"/>
          </a:p>
        </p:txBody>
      </p:sp>
      <p:sp>
        <p:nvSpPr>
          <p:cNvPr id="19" name="Text 17"/>
          <p:cNvSpPr/>
          <p:nvPr/>
        </p:nvSpPr>
        <p:spPr>
          <a:xfrm>
            <a:off x="6309360" y="4251960"/>
            <a:ext cx="5242255" cy="36576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Knobs you reach for, in order</a:t>
            </a:r>
            <a:endParaRPr lang="en-US" sz="1500" dirty="0"/>
          </a:p>
        </p:txBody>
      </p:sp>
      <p:sp>
        <p:nvSpPr>
          <p:cNvPr id="20" name="Text 18"/>
          <p:cNvSpPr/>
          <p:nvPr/>
        </p:nvSpPr>
        <p:spPr>
          <a:xfrm>
            <a:off x="6309360" y="4663440"/>
            <a:ext cx="5242255" cy="1188720"/>
          </a:xfrm>
          <a:prstGeom prst="rect">
            <a:avLst/>
          </a:prstGeom>
          <a:noFill/>
          <a:ln/>
        </p:spPr>
        <p:txBody>
          <a:bodyPr wrap="square" lIns="0" tIns="0" rIns="0" bIns="0" rtlCol="0" anchor="t"/>
          <a:lstStyle/>
          <a:p>
            <a:pPr algn="l" indent="0" marL="0">
              <a:lnSpc>
                <a:spcPct val="115000"/>
              </a:lnSpc>
              <a:buNone/>
            </a:pPr>
            <a:r>
              <a:rPr lang="en-US" sz="1250" b="1" dirty="0">
                <a:solidFill>
                  <a:srgbClr val="34D399"/>
                </a:solidFill>
                <a:latin typeface="Calibri" pitchFamily="34" charset="0"/>
                <a:ea typeface="Calibri" pitchFamily="34" charset="-122"/>
                <a:cs typeface="Calibri" pitchFamily="34" charset="-120"/>
              </a:rPr>
              <a:t>1.  Rewrite the query  </a:t>
            </a:r>
            <a:pPr algn="l" indent="0" marL="0">
              <a:lnSpc>
                <a:spcPct val="115000"/>
              </a:lnSpc>
              <a:buNone/>
            </a:pPr>
            <a:r>
              <a:rPr lang="en-US" sz="1250" dirty="0">
                <a:solidFill>
                  <a:srgbClr val="8294AE"/>
                </a:solidFill>
                <a:latin typeface="Calibri" pitchFamily="34" charset="0"/>
                <a:ea typeface="Calibri" pitchFamily="34" charset="-122"/>
                <a:cs typeface="Calibri" pitchFamily="34" charset="-120"/>
              </a:rPr>
              <a:t>(this slide — cheap, no extra service)</a:t>
            </a:r>
            <a:endParaRPr lang="en-US" sz="1250" dirty="0"/>
          </a:p>
          <a:p>
            <a:pPr algn="l" indent="0" marL="0">
              <a:lnSpc>
                <a:spcPct val="115000"/>
              </a:lnSpc>
              <a:buNone/>
            </a:pPr>
            <a:r>
              <a:rPr lang="en-US" sz="1250" b="1" dirty="0">
                <a:solidFill>
                  <a:srgbClr val="CBD5E1"/>
                </a:solidFill>
                <a:latin typeface="Calibri" pitchFamily="34" charset="0"/>
                <a:ea typeface="Calibri" pitchFamily="34" charset="-122"/>
                <a:cs typeface="Calibri" pitchFamily="34" charset="-120"/>
              </a:rPr>
              <a:t>2.  Tune chunk size / maxResults  </a:t>
            </a:r>
            <a:pPr algn="l" indent="0" marL="0">
              <a:lnSpc>
                <a:spcPct val="115000"/>
              </a:lnSpc>
              <a:buNone/>
            </a:pPr>
            <a:r>
              <a:rPr lang="en-US" sz="1250" dirty="0">
                <a:solidFill>
                  <a:srgbClr val="8294AE"/>
                </a:solidFill>
                <a:latin typeface="Calibri" pitchFamily="34" charset="0"/>
                <a:ea typeface="Calibri" pitchFamily="34" charset="-122"/>
                <a:cs typeface="Calibri" pitchFamily="34" charset="-120"/>
              </a:rPr>
              <a:t>(config)</a:t>
            </a:r>
            <a:endParaRPr lang="en-US" sz="1250" dirty="0"/>
          </a:p>
          <a:p>
            <a:pPr algn="l" indent="0" marL="0">
              <a:lnSpc>
                <a:spcPct val="115000"/>
              </a:lnSpc>
              <a:buNone/>
            </a:pPr>
            <a:r>
              <a:rPr lang="en-US" sz="1250" b="1" dirty="0">
                <a:solidFill>
                  <a:srgbClr val="CBD5E1"/>
                </a:solidFill>
                <a:latin typeface="Calibri" pitchFamily="34" charset="0"/>
                <a:ea typeface="Calibri" pitchFamily="34" charset="-122"/>
                <a:cs typeface="Calibri" pitchFamily="34" charset="-120"/>
              </a:rPr>
              <a:t>3.  Add a reranker  </a:t>
            </a:r>
            <a:pPr algn="l" indent="0" marL="0">
              <a:lnSpc>
                <a:spcPct val="115000"/>
              </a:lnSpc>
              <a:buNone/>
            </a:pPr>
            <a:r>
              <a:rPr lang="en-US" sz="1250" dirty="0">
                <a:solidFill>
                  <a:srgbClr val="8294AE"/>
                </a:solidFill>
                <a:latin typeface="Calibri" pitchFamily="34" charset="0"/>
                <a:ea typeface="Calibri" pitchFamily="34" charset="-122"/>
                <a:cs typeface="Calibri" pitchFamily="34" charset="-120"/>
              </a:rPr>
              <a:t>(a scoring model — more cost)</a:t>
            </a:r>
            <a:endParaRPr lang="en-US" sz="1250" dirty="0"/>
          </a:p>
        </p:txBody>
      </p:sp>
      <p:sp>
        <p:nvSpPr>
          <p:cNvPr id="22" name="Text 19"/>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3" name="Text 20"/>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766560" y="-457200"/>
            <a:ext cx="5486400" cy="3291840"/>
          </a:xfrm>
          <a:prstGeom prst="rect">
            <a:avLst/>
          </a:prstGeom>
          <a:noFill/>
          <a:ln/>
        </p:spPr>
        <p:txBody>
          <a:bodyPr wrap="square" lIns="0" tIns="0" rIns="0" bIns="0" rtlCol="0" anchor="ctr"/>
          <a:lstStyle/>
          <a:p>
            <a:pPr algn="r" indent="0" marL="0">
              <a:buNone/>
            </a:pPr>
            <a:r>
              <a:rPr lang="en-US" sz="15000" b="1" dirty="0">
                <a:solidFill>
                  <a:srgbClr val="16202F"/>
                </a:solidFill>
                <a:latin typeface="Arial" pitchFamily="34" charset="0"/>
                <a:ea typeface="Arial" pitchFamily="34" charset="-122"/>
                <a:cs typeface="Arial" pitchFamily="34" charset="-120"/>
              </a:rPr>
              <a:t>LIVE</a:t>
            </a:r>
            <a:endParaRPr lang="en-US" sz="15000" dirty="0"/>
          </a:p>
        </p:txBody>
      </p:sp>
      <p:sp>
        <p:nvSpPr>
          <p:cNvPr id="3" name="Text 1"/>
          <p:cNvSpPr/>
          <p:nvPr/>
        </p:nvSpPr>
        <p:spPr>
          <a:xfrm>
            <a:off x="640080" y="822960"/>
            <a:ext cx="5486400" cy="365760"/>
          </a:xfrm>
          <a:prstGeom prst="rect">
            <a:avLst/>
          </a:prstGeom>
          <a:noFill/>
          <a:ln/>
        </p:spPr>
        <p:txBody>
          <a:bodyPr wrap="square" lIns="0" tIns="0" rIns="0" bIns="0" rtlCol="0" anchor="ctr"/>
          <a:lstStyle/>
          <a:p>
            <a:pPr indent="0" marL="0">
              <a:buNone/>
            </a:pPr>
            <a:r>
              <a:rPr lang="en-US" sz="1400" b="1" spc="200" kern="0" dirty="0">
                <a:solidFill>
                  <a:srgbClr val="34D399"/>
                </a:solidFill>
                <a:latin typeface="Courier New" pitchFamily="34" charset="0"/>
                <a:ea typeface="Courier New" pitchFamily="34" charset="-122"/>
                <a:cs typeface="Courier New" pitchFamily="34" charset="-120"/>
              </a:rPr>
              <a:t>// demo</a:t>
            </a:r>
            <a:endParaRPr lang="en-US" sz="1400" dirty="0"/>
          </a:p>
        </p:txBody>
      </p:sp>
      <p:sp>
        <p:nvSpPr>
          <p:cNvPr id="4" name="Text 2"/>
          <p:cNvSpPr/>
          <p:nvPr/>
        </p:nvSpPr>
        <p:spPr>
          <a:xfrm>
            <a:off x="640080" y="1234440"/>
            <a:ext cx="10607040" cy="9144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Now the part that can go wrong on purpose</a:t>
            </a:r>
            <a:endParaRPr lang="en-US" sz="3600" dirty="0"/>
          </a:p>
        </p:txBody>
      </p:sp>
      <p:sp>
        <p:nvSpPr>
          <p:cNvPr id="5" name="Shape 3"/>
          <p:cNvSpPr/>
          <p:nvPr/>
        </p:nvSpPr>
        <p:spPr>
          <a:xfrm>
            <a:off x="640080" y="2514600"/>
            <a:ext cx="2487854"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868680" y="2743200"/>
            <a:ext cx="548640" cy="548640"/>
          </a:xfrm>
          <a:prstGeom prst="ellipse">
            <a:avLst/>
          </a:prstGeom>
          <a:solidFill>
            <a:srgbClr val="FF4D6A"/>
          </a:solidFill>
          <a:ln/>
        </p:spPr>
      </p:sp>
      <p:sp>
        <p:nvSpPr>
          <p:cNvPr id="7" name="Text 5"/>
          <p:cNvSpPr/>
          <p:nvPr/>
        </p:nvSpPr>
        <p:spPr>
          <a:xfrm>
            <a:off x="868680" y="2743200"/>
            <a:ext cx="548640" cy="548640"/>
          </a:xfrm>
          <a:prstGeom prst="rect">
            <a:avLst/>
          </a:prstGeom>
          <a:noFill/>
          <a:ln/>
        </p:spPr>
        <p:txBody>
          <a:bodyPr wrap="square" lIns="0" tIns="0" rIns="0" bIns="0" rtlCol="0" anchor="ctr"/>
          <a:lstStyle/>
          <a:p>
            <a:pPr algn="ctr" indent="0" marL="0">
              <a:buNone/>
            </a:pPr>
            <a:r>
              <a:rPr lang="en-US" sz="2200" b="1" dirty="0">
                <a:solidFill>
                  <a:srgbClr val="0E1726"/>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868680" y="3429000"/>
            <a:ext cx="2030654"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Ask with no RAG</a:t>
            </a:r>
            <a:endParaRPr lang="en-US" sz="1500" dirty="0"/>
          </a:p>
        </p:txBody>
      </p:sp>
      <p:sp>
        <p:nvSpPr>
          <p:cNvPr id="9" name="Text 7"/>
          <p:cNvSpPr/>
          <p:nvPr/>
        </p:nvSpPr>
        <p:spPr>
          <a:xfrm>
            <a:off x="868680" y="4023360"/>
            <a:ext cx="2030654" cy="6858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Confident fiction about the newsletter.</a:t>
            </a:r>
            <a:endParaRPr lang="en-US" sz="1250" dirty="0"/>
          </a:p>
        </p:txBody>
      </p:sp>
      <p:sp>
        <p:nvSpPr>
          <p:cNvPr id="10" name="Shape 8"/>
          <p:cNvSpPr/>
          <p:nvPr/>
        </p:nvSpPr>
        <p:spPr>
          <a:xfrm>
            <a:off x="3447974" y="2514600"/>
            <a:ext cx="2487854"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3676574" y="2743200"/>
            <a:ext cx="548640" cy="548640"/>
          </a:xfrm>
          <a:prstGeom prst="ellipse">
            <a:avLst/>
          </a:prstGeom>
          <a:solidFill>
            <a:srgbClr val="34D399"/>
          </a:solidFill>
          <a:ln/>
        </p:spPr>
      </p:sp>
      <p:sp>
        <p:nvSpPr>
          <p:cNvPr id="12" name="Text 10"/>
          <p:cNvSpPr/>
          <p:nvPr/>
        </p:nvSpPr>
        <p:spPr>
          <a:xfrm>
            <a:off x="3676574" y="2743200"/>
            <a:ext cx="548640" cy="548640"/>
          </a:xfrm>
          <a:prstGeom prst="rect">
            <a:avLst/>
          </a:prstGeom>
          <a:noFill/>
          <a:ln/>
        </p:spPr>
        <p:txBody>
          <a:bodyPr wrap="square" lIns="0" tIns="0" rIns="0" bIns="0" rtlCol="0" anchor="ctr"/>
          <a:lstStyle/>
          <a:p>
            <a:pPr algn="ctr" indent="0" marL="0">
              <a:buNone/>
            </a:pPr>
            <a:r>
              <a:rPr lang="en-US" sz="2200" b="1" dirty="0">
                <a:solidFill>
                  <a:srgbClr val="0E1726"/>
                </a:solidFill>
                <a:latin typeface="Arial" pitchFamily="34" charset="0"/>
                <a:ea typeface="Arial" pitchFamily="34" charset="-122"/>
                <a:cs typeface="Arial" pitchFamily="34" charset="-120"/>
              </a:rPr>
              <a:t>2</a:t>
            </a:r>
            <a:endParaRPr lang="en-US" sz="2200" dirty="0"/>
          </a:p>
        </p:txBody>
      </p:sp>
      <p:sp>
        <p:nvSpPr>
          <p:cNvPr id="13" name="Text 11"/>
          <p:cNvSpPr/>
          <p:nvPr/>
        </p:nvSpPr>
        <p:spPr>
          <a:xfrm>
            <a:off x="3676574" y="3429000"/>
            <a:ext cx="2030654"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Ask with naive RAG</a:t>
            </a:r>
            <a:endParaRPr lang="en-US" sz="1500" dirty="0"/>
          </a:p>
        </p:txBody>
      </p:sp>
      <p:sp>
        <p:nvSpPr>
          <p:cNvPr id="14" name="Text 12"/>
          <p:cNvSpPr/>
          <p:nvPr/>
        </p:nvSpPr>
        <p:spPr>
          <a:xfrm>
            <a:off x="3676574" y="4023360"/>
            <a:ext cx="2030654" cy="6858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Same question — now grounded and correct.</a:t>
            </a:r>
            <a:endParaRPr lang="en-US" sz="1250" dirty="0"/>
          </a:p>
        </p:txBody>
      </p:sp>
      <p:sp>
        <p:nvSpPr>
          <p:cNvPr id="15" name="Shape 13"/>
          <p:cNvSpPr/>
          <p:nvPr/>
        </p:nvSpPr>
        <p:spPr>
          <a:xfrm>
            <a:off x="6255868" y="2514600"/>
            <a:ext cx="2487854"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6" name="Shape 14"/>
          <p:cNvSpPr/>
          <p:nvPr/>
        </p:nvSpPr>
        <p:spPr>
          <a:xfrm>
            <a:off x="6484468" y="2743200"/>
            <a:ext cx="548640" cy="548640"/>
          </a:xfrm>
          <a:prstGeom prst="ellipse">
            <a:avLst/>
          </a:prstGeom>
          <a:solidFill>
            <a:srgbClr val="FBBF24"/>
          </a:solidFill>
          <a:ln/>
        </p:spPr>
      </p:sp>
      <p:sp>
        <p:nvSpPr>
          <p:cNvPr id="17" name="Text 15"/>
          <p:cNvSpPr/>
          <p:nvPr/>
        </p:nvSpPr>
        <p:spPr>
          <a:xfrm>
            <a:off x="6484468" y="2743200"/>
            <a:ext cx="548640" cy="548640"/>
          </a:xfrm>
          <a:prstGeom prst="rect">
            <a:avLst/>
          </a:prstGeom>
          <a:noFill/>
          <a:ln/>
        </p:spPr>
        <p:txBody>
          <a:bodyPr wrap="square" lIns="0" tIns="0" rIns="0" bIns="0" rtlCol="0" anchor="ctr"/>
          <a:lstStyle/>
          <a:p>
            <a:pPr algn="ctr" indent="0" marL="0">
              <a:buNone/>
            </a:pPr>
            <a:r>
              <a:rPr lang="en-US" sz="2200" b="1" dirty="0">
                <a:solidFill>
                  <a:srgbClr val="0E1726"/>
                </a:solidFill>
                <a:latin typeface="Arial" pitchFamily="34" charset="0"/>
                <a:ea typeface="Arial" pitchFamily="34" charset="-122"/>
                <a:cs typeface="Arial" pitchFamily="34" charset="-120"/>
              </a:rPr>
              <a:t>3</a:t>
            </a:r>
            <a:endParaRPr lang="en-US" sz="2200" dirty="0"/>
          </a:p>
        </p:txBody>
      </p:sp>
      <p:sp>
        <p:nvSpPr>
          <p:cNvPr id="18" name="Text 16"/>
          <p:cNvSpPr/>
          <p:nvPr/>
        </p:nvSpPr>
        <p:spPr>
          <a:xfrm>
            <a:off x="6484468" y="3429000"/>
            <a:ext cx="2030654"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Swap to easy RAG</a:t>
            </a:r>
            <a:endParaRPr lang="en-US" sz="1500" dirty="0"/>
          </a:p>
        </p:txBody>
      </p:sp>
      <p:sp>
        <p:nvSpPr>
          <p:cNvPr id="19" name="Text 17"/>
          <p:cNvSpPr/>
          <p:nvPr/>
        </p:nvSpPr>
        <p:spPr>
          <a:xfrm>
            <a:off x="6484468" y="4023360"/>
            <a:ext cx="2030654" cy="6858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Identical answer; show the config that replaced the code.</a:t>
            </a:r>
            <a:endParaRPr lang="en-US" sz="1250" dirty="0"/>
          </a:p>
        </p:txBody>
      </p:sp>
      <p:sp>
        <p:nvSpPr>
          <p:cNvPr id="20" name="Shape 18"/>
          <p:cNvSpPr/>
          <p:nvPr/>
        </p:nvSpPr>
        <p:spPr>
          <a:xfrm>
            <a:off x="9063761" y="2514600"/>
            <a:ext cx="2487854" cy="2331720"/>
          </a:xfrm>
          <a:prstGeom prst="roundRect">
            <a:avLst>
              <a:gd name="adj" fmla="val 3529"/>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21" name="Shape 19"/>
          <p:cNvSpPr/>
          <p:nvPr/>
        </p:nvSpPr>
        <p:spPr>
          <a:xfrm>
            <a:off x="9292361" y="2743200"/>
            <a:ext cx="548640" cy="548640"/>
          </a:xfrm>
          <a:prstGeom prst="ellipse">
            <a:avLst/>
          </a:prstGeom>
          <a:solidFill>
            <a:srgbClr val="CBD5E1"/>
          </a:solidFill>
          <a:ln/>
        </p:spPr>
      </p:sp>
      <p:sp>
        <p:nvSpPr>
          <p:cNvPr id="22" name="Text 20"/>
          <p:cNvSpPr/>
          <p:nvPr/>
        </p:nvSpPr>
        <p:spPr>
          <a:xfrm>
            <a:off x="9292361" y="2743200"/>
            <a:ext cx="548640" cy="548640"/>
          </a:xfrm>
          <a:prstGeom prst="rect">
            <a:avLst/>
          </a:prstGeom>
          <a:noFill/>
          <a:ln/>
        </p:spPr>
        <p:txBody>
          <a:bodyPr wrap="square" lIns="0" tIns="0" rIns="0" bIns="0" rtlCol="0" anchor="ctr"/>
          <a:lstStyle/>
          <a:p>
            <a:pPr algn="ctr" indent="0" marL="0">
              <a:buNone/>
            </a:pPr>
            <a:r>
              <a:rPr lang="en-US" sz="2200" b="1" dirty="0">
                <a:solidFill>
                  <a:srgbClr val="0E1726"/>
                </a:solidFill>
                <a:latin typeface="Arial" pitchFamily="34" charset="0"/>
                <a:ea typeface="Arial" pitchFamily="34" charset="-122"/>
                <a:cs typeface="Arial" pitchFamily="34" charset="-120"/>
              </a:rPr>
              <a:t>4</a:t>
            </a:r>
            <a:endParaRPr lang="en-US" sz="2200" dirty="0"/>
          </a:p>
        </p:txBody>
      </p:sp>
      <p:sp>
        <p:nvSpPr>
          <p:cNvPr id="23" name="Text 21"/>
          <p:cNvSpPr/>
          <p:nvPr/>
        </p:nvSpPr>
        <p:spPr>
          <a:xfrm>
            <a:off x="9292361" y="3429000"/>
            <a:ext cx="2030654"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Break it, then fix it</a:t>
            </a:r>
            <a:endParaRPr lang="en-US" sz="1500" dirty="0"/>
          </a:p>
        </p:txBody>
      </p:sp>
      <p:sp>
        <p:nvSpPr>
          <p:cNvPr id="24" name="Text 22"/>
          <p:cNvSpPr/>
          <p:nvPr/>
        </p:nvSpPr>
        <p:spPr>
          <a:xfrm>
            <a:off x="9292361" y="4023360"/>
            <a:ext cx="2030654" cy="685800"/>
          </a:xfrm>
          <a:prstGeom prst="rect">
            <a:avLst/>
          </a:prstGeom>
          <a:noFill/>
          <a:ln/>
        </p:spPr>
        <p:txBody>
          <a:bodyPr wrap="square" lIns="0" tIns="0" rIns="0" bIns="0" rtlCol="0" anchor="t"/>
          <a:lstStyle/>
          <a:p>
            <a:pPr algn="l" indent="0" marL="0">
              <a:buNone/>
            </a:pPr>
            <a:r>
              <a:rPr lang="en-US" sz="1250" dirty="0">
                <a:solidFill>
                  <a:srgbClr val="8294AE"/>
                </a:solidFill>
                <a:latin typeface="Calibri" pitchFamily="34" charset="0"/>
                <a:ea typeface="Calibri" pitchFamily="34" charset="-122"/>
                <a:cs typeface="Calibri" pitchFamily="34" charset="-120"/>
              </a:rPr>
              <a:t>Vague question whiffs on naive; query-transform recovers.</a:t>
            </a:r>
            <a:endParaRPr lang="en-US" sz="1250" dirty="0"/>
          </a:p>
        </p:txBody>
      </p:sp>
      <p:sp>
        <p:nvSpPr>
          <p:cNvPr id="25" name="Shape 23"/>
          <p:cNvSpPr/>
          <p:nvPr/>
        </p:nvSpPr>
        <p:spPr>
          <a:xfrm>
            <a:off x="640080" y="5120640"/>
            <a:ext cx="10911535" cy="868680"/>
          </a:xfrm>
          <a:prstGeom prst="roundRect">
            <a:avLst>
              <a:gd name="adj" fmla="val 8421"/>
            </a:avLst>
          </a:prstGeom>
          <a:solidFill>
            <a:srgbClr val="16202F"/>
          </a:solidFill>
          <a:ln w="12700">
            <a:solidFill>
              <a:srgbClr val="2B3A52"/>
            </a:solidFill>
            <a:prstDash val="solid"/>
          </a:ln>
        </p:spPr>
      </p:sp>
      <p:pic>
        <p:nvPicPr>
          <p:cNvPr id="26" name="Image 0" descr="preencoded.png">    </p:cNvPr>
          <p:cNvPicPr>
            <a:picLocks noChangeAspect="1"/>
          </p:cNvPicPr>
          <p:nvPr/>
        </p:nvPicPr>
        <p:blipFill>
          <a:blip r:embed="rId1"/>
          <a:stretch>
            <a:fillRect/>
          </a:stretch>
        </p:blipFill>
        <p:spPr>
          <a:xfrm>
            <a:off x="914400" y="5330952"/>
            <a:ext cx="457200" cy="457200"/>
          </a:xfrm>
          <a:prstGeom prst="rect">
            <a:avLst/>
          </a:prstGeom>
        </p:spPr>
      </p:pic>
      <p:sp>
        <p:nvSpPr>
          <p:cNvPr id="27" name="Text 24"/>
          <p:cNvSpPr/>
          <p:nvPr/>
        </p:nvSpPr>
        <p:spPr>
          <a:xfrm>
            <a:off x="1554480" y="5120640"/>
            <a:ext cx="9722815" cy="868680"/>
          </a:xfrm>
          <a:prstGeom prst="rect">
            <a:avLst/>
          </a:prstGeom>
          <a:noFill/>
          <a:ln/>
        </p:spPr>
        <p:txBody>
          <a:bodyPr wrap="square" lIns="0" tIns="0" rIns="0" bIns="0" rtlCol="0" anchor="ctr"/>
          <a:lstStyle/>
          <a:p>
            <a:pPr algn="l" indent="0" marL="0">
              <a:buNone/>
            </a:pPr>
            <a:r>
              <a:rPr lang="en-US" sz="1400" b="1" dirty="0">
                <a:solidFill>
                  <a:srgbClr val="34D399"/>
                </a:solidFill>
                <a:latin typeface="Courier New" pitchFamily="34" charset="0"/>
                <a:ea typeface="Courier New" pitchFamily="34" charset="-122"/>
                <a:cs typeface="Courier New" pitchFamily="34" charset="-120"/>
              </a:rPr>
              <a:t>mvn quarkus:dev</a:t>
            </a:r>
            <a:pPr algn="l" indent="0" marL="0">
              <a:buNone/>
            </a:pPr>
            <a:r>
              <a:rPr lang="en-US" sz="1400" dirty="0">
                <a:solidFill>
                  <a:srgbClr val="CBD5E1"/>
                </a:solidFill>
                <a:latin typeface="Calibri" pitchFamily="34" charset="0"/>
                <a:ea typeface="Calibri" pitchFamily="34" charset="-122"/>
                <a:cs typeface="Calibri" pitchFamily="34" charset="-120"/>
              </a:rPr>
              <a:t>   — hot reload stays on the whole time. If it crashes, I have a 15-minute panic window and a pre-recorded backup.</a:t>
            </a:r>
            <a:endParaRPr lang="en-US" sz="1400" dirty="0"/>
          </a:p>
        </p:txBody>
      </p:sp>
      <p:sp>
        <p:nvSpPr>
          <p:cNvPr id="29" name="Text 25"/>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30" name="Text 26"/>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34D399"/>
                </a:solidFill>
                <a:latin typeface="Courier New" pitchFamily="34" charset="0"/>
                <a:ea typeface="Courier New" pitchFamily="34" charset="-122"/>
                <a:cs typeface="Courier New" pitchFamily="34" charset="-120"/>
              </a:rPr>
              <a:t>// observability</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Same tools you already own, watching new traffic</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15</a:t>
            </a:r>
            <a:endParaRPr lang="en-US" sz="4000" dirty="0"/>
          </a:p>
        </p:txBody>
      </p:sp>
      <p:sp>
        <p:nvSpPr>
          <p:cNvPr id="5" name="Text 3"/>
          <p:cNvSpPr/>
          <p:nvPr/>
        </p:nvSpPr>
        <p:spPr>
          <a:xfrm>
            <a:off x="640080" y="1591056"/>
            <a:ext cx="10424160" cy="457200"/>
          </a:xfrm>
          <a:prstGeom prst="rect">
            <a:avLst/>
          </a:prstGeom>
          <a:noFill/>
          <a:ln/>
        </p:spPr>
        <p:txBody>
          <a:bodyPr wrap="square" lIns="0" tIns="0" rIns="0" bIns="0" rtlCol="0" anchor="ctr"/>
          <a:lstStyle/>
          <a:p>
            <a:pPr indent="0" marL="0">
              <a:buNone/>
            </a:pPr>
            <a:r>
              <a:rPr lang="en-US" sz="1500" i="1" dirty="0">
                <a:solidFill>
                  <a:srgbClr val="8294AE"/>
                </a:solidFill>
                <a:latin typeface="Calibri" pitchFamily="34" charset="0"/>
                <a:ea typeface="Calibri" pitchFamily="34" charset="-122"/>
                <a:cs typeface="Calibri" pitchFamily="34" charset="-120"/>
              </a:rPr>
              <a:t>The pitch to a conservative DevOps team: nothing new to operate.</a:t>
            </a:r>
            <a:endParaRPr lang="en-US" sz="1500" dirty="0"/>
          </a:p>
        </p:txBody>
      </p:sp>
      <p:sp>
        <p:nvSpPr>
          <p:cNvPr id="6" name="Shape 4"/>
          <p:cNvSpPr/>
          <p:nvPr/>
        </p:nvSpPr>
        <p:spPr>
          <a:xfrm>
            <a:off x="640080" y="2331720"/>
            <a:ext cx="5349240" cy="3474720"/>
          </a:xfrm>
          <a:prstGeom prst="roundRect">
            <a:avLst>
              <a:gd name="adj" fmla="val 2368"/>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7" name="Shape 5"/>
          <p:cNvSpPr/>
          <p:nvPr/>
        </p:nvSpPr>
        <p:spPr>
          <a:xfrm>
            <a:off x="914400" y="2606040"/>
            <a:ext cx="777240" cy="777240"/>
          </a:xfrm>
          <a:prstGeom prst="ellipse">
            <a:avLst/>
          </a:prstGeom>
          <a:solidFill>
            <a:srgbClr val="243349"/>
          </a:solidFill>
          <a:ln w="12700">
            <a:solidFill>
              <a:srgbClr val="2B3A52"/>
            </a:solidFill>
            <a:prstDash val="solid"/>
          </a:ln>
        </p:spPr>
      </p:sp>
      <p:pic>
        <p:nvPicPr>
          <p:cNvPr id="8" name="Image 0" descr="preencoded.png">    </p:cNvPr>
          <p:cNvPicPr>
            <a:picLocks noChangeAspect="1"/>
          </p:cNvPicPr>
          <p:nvPr/>
        </p:nvPicPr>
        <p:blipFill>
          <a:blip r:embed="rId1"/>
          <a:stretch>
            <a:fillRect/>
          </a:stretch>
        </p:blipFill>
        <p:spPr>
          <a:xfrm>
            <a:off x="1132027" y="2823667"/>
            <a:ext cx="341986" cy="341986"/>
          </a:xfrm>
          <a:prstGeom prst="rect">
            <a:avLst/>
          </a:prstGeom>
        </p:spPr>
      </p:pic>
      <p:sp>
        <p:nvSpPr>
          <p:cNvPr id="9" name="Text 6"/>
          <p:cNvSpPr/>
          <p:nvPr/>
        </p:nvSpPr>
        <p:spPr>
          <a:xfrm>
            <a:off x="1828800" y="2697480"/>
            <a:ext cx="3977640" cy="548640"/>
          </a:xfrm>
          <a:prstGeom prst="rect">
            <a:avLst/>
          </a:prstGeom>
          <a:noFill/>
          <a:ln/>
        </p:spPr>
        <p:txBody>
          <a:bodyPr wrap="square" lIns="0" tIns="0" rIns="0" bIns="0" rtlCol="0" anchor="ctr"/>
          <a:lstStyle/>
          <a:p>
            <a:pPr algn="l" indent="0" marL="0">
              <a:buNone/>
            </a:pPr>
            <a:r>
              <a:rPr lang="en-US" sz="1700" b="1" dirty="0">
                <a:solidFill>
                  <a:srgbClr val="34D399"/>
                </a:solidFill>
                <a:latin typeface="Arial" pitchFamily="34" charset="0"/>
                <a:ea typeface="Arial" pitchFamily="34" charset="-122"/>
                <a:cs typeface="Arial" pitchFamily="34" charset="-120"/>
              </a:rPr>
              <a:t>JVM mode  ·  what you'll do</a:t>
            </a:r>
            <a:endParaRPr lang="en-US" sz="1700" dirty="0"/>
          </a:p>
        </p:txBody>
      </p:sp>
      <p:sp>
        <p:nvSpPr>
          <p:cNvPr id="10" name="Text 7"/>
          <p:cNvSpPr/>
          <p:nvPr/>
        </p:nvSpPr>
        <p:spPr>
          <a:xfrm>
            <a:off x="960120" y="3474720"/>
            <a:ext cx="4709160" cy="548640"/>
          </a:xfrm>
          <a:prstGeom prst="rect">
            <a:avLst/>
          </a:prstGeom>
          <a:noFill/>
          <a:ln/>
        </p:spPr>
        <p:txBody>
          <a:bodyPr wrap="square" lIns="0" tIns="0" rIns="0" bIns="0" rtlCol="0" anchor="t"/>
          <a:lstStyle/>
          <a:p>
            <a:pPr algn="l" indent="0" marL="0">
              <a:buNone/>
            </a:pPr>
            <a:r>
              <a:rPr lang="en-US" sz="1350" b="1" dirty="0">
                <a:solidFill>
                  <a:srgbClr val="CBD5E1"/>
                </a:solidFill>
                <a:latin typeface="Calibri" pitchFamily="34" charset="0"/>
                <a:ea typeface="Calibri" pitchFamily="34" charset="-122"/>
                <a:cs typeface="Calibri" pitchFamily="34" charset="-120"/>
              </a:rPr>
              <a:t>Attach the Elastic APM Java agent </a:t>
            </a:r>
            <a:pPr algn="l" indent="0" marL="0">
              <a:buNone/>
            </a:pPr>
            <a:r>
              <a:rPr lang="en-US" sz="1350" dirty="0">
                <a:solidFill>
                  <a:srgbClr val="8294AE"/>
                </a:solidFill>
                <a:latin typeface="Calibri" pitchFamily="34" charset="0"/>
                <a:ea typeface="Calibri" pitchFamily="34" charset="-122"/>
                <a:cs typeface="Calibri" pitchFamily="34" charset="-120"/>
              </a:rPr>
              <a:t>exactly as you do on your Spring apps today:</a:t>
            </a:r>
            <a:endParaRPr lang="en-US" sz="1350" dirty="0"/>
          </a:p>
        </p:txBody>
      </p:sp>
      <p:sp>
        <p:nvSpPr>
          <p:cNvPr id="11" name="Shape 8"/>
          <p:cNvSpPr/>
          <p:nvPr/>
        </p:nvSpPr>
        <p:spPr>
          <a:xfrm>
            <a:off x="960120" y="4069080"/>
            <a:ext cx="4709160" cy="914400"/>
          </a:xfrm>
          <a:prstGeom prst="roundRect">
            <a:avLst>
              <a:gd name="adj" fmla="val 6000"/>
            </a:avLst>
          </a:prstGeom>
          <a:solidFill>
            <a:srgbClr val="0A111E"/>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2" name="Shape 9"/>
          <p:cNvSpPr/>
          <p:nvPr/>
        </p:nvSpPr>
        <p:spPr>
          <a:xfrm>
            <a:off x="1161288" y="4251960"/>
            <a:ext cx="109728" cy="109728"/>
          </a:xfrm>
          <a:prstGeom prst="ellipse">
            <a:avLst/>
          </a:prstGeom>
          <a:solidFill>
            <a:srgbClr val="FF5F57"/>
          </a:solidFill>
          <a:ln/>
        </p:spPr>
      </p:sp>
      <p:sp>
        <p:nvSpPr>
          <p:cNvPr id="13" name="Shape 10"/>
          <p:cNvSpPr/>
          <p:nvPr/>
        </p:nvSpPr>
        <p:spPr>
          <a:xfrm>
            <a:off x="1344168" y="4251960"/>
            <a:ext cx="109728" cy="109728"/>
          </a:xfrm>
          <a:prstGeom prst="ellipse">
            <a:avLst/>
          </a:prstGeom>
          <a:solidFill>
            <a:srgbClr val="FEBC2E"/>
          </a:solidFill>
          <a:ln/>
        </p:spPr>
      </p:sp>
      <p:sp>
        <p:nvSpPr>
          <p:cNvPr id="14" name="Shape 11"/>
          <p:cNvSpPr/>
          <p:nvPr/>
        </p:nvSpPr>
        <p:spPr>
          <a:xfrm>
            <a:off x="1527048" y="4251960"/>
            <a:ext cx="109728" cy="109728"/>
          </a:xfrm>
          <a:prstGeom prst="ellipse">
            <a:avLst/>
          </a:prstGeom>
          <a:solidFill>
            <a:srgbClr val="28C840"/>
          </a:solidFill>
          <a:ln/>
        </p:spPr>
      </p:sp>
      <p:sp>
        <p:nvSpPr>
          <p:cNvPr id="15" name="Text 12"/>
          <p:cNvSpPr/>
          <p:nvPr/>
        </p:nvSpPr>
        <p:spPr>
          <a:xfrm>
            <a:off x="1216152" y="4526280"/>
            <a:ext cx="4251960" cy="274320"/>
          </a:xfrm>
          <a:prstGeom prst="rect">
            <a:avLst/>
          </a:prstGeom>
          <a:noFill/>
          <a:ln/>
        </p:spPr>
        <p:txBody>
          <a:bodyPr wrap="square" lIns="0" tIns="0" rIns="0" bIns="0" rtlCol="0" anchor="t"/>
          <a:lstStyle/>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java -javaagent:elastic-apm-agent.jar \</a:t>
            </a:r>
            <a:endParaRPr lang="en-US" sz="1150" dirty="0"/>
          </a:p>
          <a:p>
            <a:pPr algn="l" indent="0" marL="0">
              <a:lnSpc>
                <a:spcPct val="118000"/>
              </a:lnSpc>
              <a:buNone/>
            </a:pPr>
            <a:r>
              <a:rPr lang="en-US" sz="1150" dirty="0">
                <a:solidFill>
                  <a:srgbClr val="CBD5E1"/>
                </a:solidFill>
                <a:latin typeface="Courier New" pitchFamily="34" charset="0"/>
                <a:ea typeface="Courier New" pitchFamily="34" charset="-122"/>
                <a:cs typeface="Courier New" pitchFamily="34" charset="-120"/>
              </a:rPr>
              <a:t>     -jar quarkus-app.jar</a:t>
            </a:r>
            <a:endParaRPr lang="en-US" sz="1150" dirty="0"/>
          </a:p>
        </p:txBody>
      </p:sp>
      <p:sp>
        <p:nvSpPr>
          <p:cNvPr id="16" name="Text 13"/>
          <p:cNvSpPr/>
          <p:nvPr/>
        </p:nvSpPr>
        <p:spPr>
          <a:xfrm>
            <a:off x="960120" y="5074920"/>
            <a:ext cx="4709160" cy="640080"/>
          </a:xfrm>
          <a:prstGeom prst="rect">
            <a:avLst/>
          </a:prstGeom>
          <a:noFill/>
          <a:ln/>
        </p:spPr>
        <p:txBody>
          <a:bodyPr wrap="square" lIns="0" tIns="0" rIns="0" bIns="0" rtlCol="0" anchor="t"/>
          <a:lstStyle/>
          <a:p>
            <a:pPr algn="l" indent="0" marL="0">
              <a:buNone/>
            </a:pPr>
            <a:r>
              <a:rPr lang="en-US" sz="1250" i="1" dirty="0">
                <a:solidFill>
                  <a:srgbClr val="8294AE"/>
                </a:solidFill>
                <a:latin typeface="Calibri" pitchFamily="34" charset="0"/>
                <a:ea typeface="Calibri" pitchFamily="34" charset="-122"/>
                <a:cs typeface="Calibri" pitchFamily="34" charset="-120"/>
              </a:rPr>
              <a:t>Requests, DB calls, and the LLM call all show up as spans in Kibana.</a:t>
            </a:r>
            <a:endParaRPr lang="en-US" sz="1250" dirty="0"/>
          </a:p>
        </p:txBody>
      </p:sp>
      <p:sp>
        <p:nvSpPr>
          <p:cNvPr id="17" name="Shape 14"/>
          <p:cNvSpPr/>
          <p:nvPr/>
        </p:nvSpPr>
        <p:spPr>
          <a:xfrm>
            <a:off x="6446520" y="2331720"/>
            <a:ext cx="5105095" cy="3474720"/>
          </a:xfrm>
          <a:prstGeom prst="roundRect">
            <a:avLst>
              <a:gd name="adj" fmla="val 2368"/>
            </a:avLst>
          </a:prstGeom>
          <a:solidFill>
            <a:srgbClr val="1E293B"/>
          </a:solidFill>
          <a:ln w="12700">
            <a:solidFill>
              <a:srgbClr val="2B3A52"/>
            </a:solidFill>
            <a:prstDash val="solid"/>
          </a:ln>
          <a:effectLst>
            <a:outerShdw sx="100000" sy="100000" kx="0" ky="0" algn="bl" rotWithShape="0" blurRad="114300" dist="38100" dir="5400000">
              <a:srgbClr val="000000">
                <a:alpha val="28000"/>
              </a:srgbClr>
            </a:outerShdw>
          </a:effectLst>
        </p:spPr>
      </p:sp>
      <p:sp>
        <p:nvSpPr>
          <p:cNvPr id="18" name="Shape 15"/>
          <p:cNvSpPr/>
          <p:nvPr/>
        </p:nvSpPr>
        <p:spPr>
          <a:xfrm>
            <a:off x="6720840" y="2606040"/>
            <a:ext cx="777240" cy="777240"/>
          </a:xfrm>
          <a:prstGeom prst="ellipse">
            <a:avLst/>
          </a:prstGeom>
          <a:solidFill>
            <a:srgbClr val="243349"/>
          </a:solidFill>
          <a:ln w="12700">
            <a:solidFill>
              <a:srgbClr val="2B3A52"/>
            </a:solidFill>
            <a:prstDash val="solid"/>
          </a:ln>
        </p:spPr>
      </p:sp>
      <p:pic>
        <p:nvPicPr>
          <p:cNvPr id="19" name="Image 1" descr="preencoded.png">    </p:cNvPr>
          <p:cNvPicPr>
            <a:picLocks noChangeAspect="1"/>
          </p:cNvPicPr>
          <p:nvPr/>
        </p:nvPicPr>
        <p:blipFill>
          <a:blip r:embed="rId2"/>
          <a:stretch>
            <a:fillRect/>
          </a:stretch>
        </p:blipFill>
        <p:spPr>
          <a:xfrm>
            <a:off x="6938467" y="2823667"/>
            <a:ext cx="341986" cy="341986"/>
          </a:xfrm>
          <a:prstGeom prst="rect">
            <a:avLst/>
          </a:prstGeom>
        </p:spPr>
      </p:pic>
      <p:sp>
        <p:nvSpPr>
          <p:cNvPr id="20" name="Text 16"/>
          <p:cNvSpPr/>
          <p:nvPr/>
        </p:nvSpPr>
        <p:spPr>
          <a:xfrm>
            <a:off x="7635240" y="2697480"/>
            <a:ext cx="3733495" cy="548640"/>
          </a:xfrm>
          <a:prstGeom prst="rect">
            <a:avLst/>
          </a:prstGeom>
          <a:noFill/>
          <a:ln/>
        </p:spPr>
        <p:txBody>
          <a:bodyPr wrap="square" lIns="0" tIns="0" rIns="0" bIns="0" rtlCol="0" anchor="ctr"/>
          <a:lstStyle/>
          <a:p>
            <a:pPr algn="l" indent="0" marL="0">
              <a:buNone/>
            </a:pPr>
            <a:r>
              <a:rPr lang="en-US" sz="1700" b="1" dirty="0">
                <a:solidFill>
                  <a:srgbClr val="FBBF24"/>
                </a:solidFill>
                <a:latin typeface="Arial" pitchFamily="34" charset="0"/>
                <a:ea typeface="Arial" pitchFamily="34" charset="-122"/>
                <a:cs typeface="Arial" pitchFamily="34" charset="-120"/>
              </a:rPr>
              <a:t>Native image  ·  the fallback</a:t>
            </a:r>
            <a:endParaRPr lang="en-US" sz="1700" dirty="0"/>
          </a:p>
        </p:txBody>
      </p:sp>
      <p:sp>
        <p:nvSpPr>
          <p:cNvPr id="21" name="Text 17"/>
          <p:cNvSpPr/>
          <p:nvPr/>
        </p:nvSpPr>
        <p:spPr>
          <a:xfrm>
            <a:off x="6766560" y="3520440"/>
            <a:ext cx="4465015" cy="2194560"/>
          </a:xfrm>
          <a:prstGeom prst="rect">
            <a:avLst/>
          </a:prstGeom>
          <a:noFill/>
          <a:ln/>
        </p:spPr>
        <p:txBody>
          <a:bodyPr wrap="square" lIns="0" tIns="0" rIns="0" bIns="0" rtlCol="0" anchor="t"/>
          <a:lstStyle/>
          <a:p>
            <a:pPr algn="l" indent="0" marL="0">
              <a:lnSpc>
                <a:spcPct val="112000"/>
              </a:lnSpc>
              <a:buNone/>
            </a:pPr>
            <a:r>
              <a:rPr lang="en-US" sz="1350" dirty="0">
                <a:solidFill>
                  <a:srgbClr val="CBD5E1"/>
                </a:solidFill>
                <a:latin typeface="Calibri" pitchFamily="34" charset="0"/>
                <a:ea typeface="Calibri" pitchFamily="34" charset="-122"/>
                <a:cs typeface="Calibri" pitchFamily="34" charset="-120"/>
              </a:rPr>
              <a:t>The Java agent needs a JVM, so for native you switch to the built-in </a:t>
            </a:r>
            <a:pPr algn="l" indent="0" marL="0">
              <a:lnSpc>
                <a:spcPct val="112000"/>
              </a:lnSpc>
              <a:buNone/>
            </a:pPr>
            <a:r>
              <a:rPr lang="en-US" sz="1350" b="1" dirty="0">
                <a:solidFill>
                  <a:srgbClr val="FBBF24"/>
                </a:solidFill>
                <a:latin typeface="Calibri" pitchFamily="34" charset="0"/>
                <a:ea typeface="Calibri" pitchFamily="34" charset="-122"/>
                <a:cs typeface="Calibri" pitchFamily="34" charset="-120"/>
              </a:rPr>
              <a:t>OpenTelemetry extension</a:t>
            </a:r>
            <a:pPr algn="l" indent="0" marL="0">
              <a:lnSpc>
                <a:spcPct val="112000"/>
              </a:lnSpc>
              <a:buNone/>
            </a:pPr>
            <a:r>
              <a:rPr lang="en-US" sz="1350" dirty="0">
                <a:solidFill>
                  <a:srgbClr val="CBD5E1"/>
                </a:solidFill>
                <a:latin typeface="Calibri" pitchFamily="34" charset="0"/>
                <a:ea typeface="Calibri" pitchFamily="34" charset="-122"/>
                <a:cs typeface="Calibri" pitchFamily="34" charset="-120"/>
              </a:rPr>
              <a:t> and export over OTLP.</a:t>
            </a:r>
            <a:endParaRPr lang="en-US" sz="1350" dirty="0"/>
          </a:p>
          <a:p>
            <a:pPr algn="l" indent="0" marL="0">
              <a:lnSpc>
                <a:spcPct val="112000"/>
              </a:lnSpc>
              <a:buNone/>
            </a:pPr>
            <a:r>
              <a:rPr lang="en-US" sz="1350" dirty="0">
                <a:solidFill>
                  <a:srgbClr val="000000"/>
                </a:solidFill>
                <a:latin typeface="Calibri" pitchFamily="34" charset="0"/>
                <a:ea typeface="Calibri" pitchFamily="34" charset="-122"/>
                <a:cs typeface="Calibri" pitchFamily="34" charset="-120"/>
              </a:rPr>
              <a:t>
</a:t>
            </a:r>
            <a:endParaRPr lang="en-US" sz="1350" dirty="0"/>
          </a:p>
          <a:p>
            <a:pPr algn="l" indent="0" marL="0">
              <a:lnSpc>
                <a:spcPct val="112000"/>
              </a:lnSpc>
              <a:buNone/>
            </a:pPr>
            <a:r>
              <a:rPr lang="en-US" sz="1350" dirty="0">
                <a:solidFill>
                  <a:srgbClr val="8294AE"/>
                </a:solidFill>
                <a:latin typeface="Calibri" pitchFamily="34" charset="0"/>
                <a:ea typeface="Calibri" pitchFamily="34" charset="-122"/>
                <a:cs typeface="Calibri" pitchFamily="34" charset="-120"/>
              </a:rPr>
              <a:t>Vendor-neutral: traces, metrics, logs → Elastic (or Jaeger, Datadog…). Same Kibana dashboards. Slightly less auto-instrumentation, no lock-in.</a:t>
            </a:r>
            <a:endParaRPr lang="en-US" sz="1350" dirty="0"/>
          </a:p>
        </p:txBody>
      </p:sp>
      <p:sp>
        <p:nvSpPr>
          <p:cNvPr id="23" name="Text 18"/>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24" name="Text 19"/>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640080" y="475488"/>
            <a:ext cx="4114800" cy="310896"/>
          </a:xfrm>
          <a:prstGeom prst="rect">
            <a:avLst/>
          </a:prstGeom>
          <a:noFill/>
          <a:ln/>
        </p:spPr>
        <p:txBody>
          <a:bodyPr wrap="square" lIns="0" tIns="0" rIns="0" bIns="0" rtlCol="0" anchor="ctr"/>
          <a:lstStyle/>
          <a:p>
            <a:pPr algn="l" indent="0" marL="0">
              <a:buNone/>
            </a:pPr>
            <a:r>
              <a:rPr lang="en-US" sz="1200" b="1" spc="200" kern="0" dirty="0">
                <a:solidFill>
                  <a:srgbClr val="FF4D6A"/>
                </a:solidFill>
                <a:latin typeface="Courier New" pitchFamily="34" charset="0"/>
                <a:ea typeface="Courier New" pitchFamily="34" charset="-122"/>
                <a:cs typeface="Courier New" pitchFamily="34" charset="-120"/>
              </a:rPr>
              <a:t>// to production</a:t>
            </a:r>
            <a:endParaRPr lang="en-US" sz="1200" dirty="0"/>
          </a:p>
        </p:txBody>
      </p:sp>
      <p:sp>
        <p:nvSpPr>
          <p:cNvPr id="3" name="Text 1"/>
          <p:cNvSpPr/>
          <p:nvPr/>
        </p:nvSpPr>
        <p:spPr>
          <a:xfrm>
            <a:off x="640080" y="768096"/>
            <a:ext cx="9631375" cy="8686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From demo to production is a config diff, not a rewrite</a:t>
            </a:r>
            <a:endParaRPr lang="en-US" sz="3200" dirty="0"/>
          </a:p>
        </p:txBody>
      </p:sp>
      <p:sp>
        <p:nvSpPr>
          <p:cNvPr id="4" name="Text 2"/>
          <p:cNvSpPr/>
          <p:nvPr/>
        </p:nvSpPr>
        <p:spPr>
          <a:xfrm>
            <a:off x="10454335" y="457200"/>
            <a:ext cx="1097280" cy="822960"/>
          </a:xfrm>
          <a:prstGeom prst="rect">
            <a:avLst/>
          </a:prstGeom>
          <a:noFill/>
          <a:ln/>
        </p:spPr>
        <p:txBody>
          <a:bodyPr wrap="square" lIns="0" tIns="0" rIns="0" bIns="0" rtlCol="0" anchor="t"/>
          <a:lstStyle/>
          <a:p>
            <a:pPr algn="r" indent="0" marL="0">
              <a:buNone/>
            </a:pPr>
            <a:r>
              <a:rPr lang="en-US" sz="4000" b="1" dirty="0">
                <a:solidFill>
                  <a:srgbClr val="2B3A52"/>
                </a:solidFill>
                <a:latin typeface="Arial" pitchFamily="34" charset="0"/>
                <a:ea typeface="Arial" pitchFamily="34" charset="-122"/>
                <a:cs typeface="Arial" pitchFamily="34" charset="-120"/>
              </a:rPr>
              <a:t>16</a:t>
            </a:r>
            <a:endParaRPr lang="en-US" sz="4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10911535" cy="914400"/>
        </p:xfrm>
        <a:graphic>
          <a:graphicData uri="http://schemas.openxmlformats.org/drawingml/2006/table">
            <a:tbl>
              <a:tblPr/>
              <a:tblGrid>
                <a:gridCol w="2468880"/>
                <a:gridCol w="3017520"/>
                <a:gridCol w="5425135"/>
              </a:tblGrid>
              <a:tr h="45720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Concern</a:t>
                      </a:r>
                      <a:endParaRPr lang="en-US" sz="1400" dirty="0">
                        <a:latin typeface="Arial" charset="0"/>
                        <a:ea typeface="Arial" charset="0"/>
                        <a:cs typeface="Arial"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243349"/>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Demo today</a:t>
                      </a:r>
                      <a:endParaRPr lang="en-US" sz="1400" dirty="0">
                        <a:latin typeface="Arial" charset="0"/>
                        <a:ea typeface="Arial" charset="0"/>
                        <a:cs typeface="Arial"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243349"/>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Production swap-in</a:t>
                      </a:r>
                      <a:endParaRPr lang="en-US" sz="1400" dirty="0">
                        <a:latin typeface="Arial" charset="0"/>
                        <a:ea typeface="Arial" charset="0"/>
                        <a:cs typeface="Arial"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243349"/>
                    </a:solidFill>
                  </a:tcPr>
                </a:tc>
              </a:tr>
              <a:tr h="566928">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Vector store</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In-memory</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PostgreSQL + pgvector (or Milvus, Pinecone…)</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r>
              <a:tr h="566928">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LLM provider</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OpenAI gpt-4o-mini</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Azure OpenAI · or self-hosted Ollama, fully on-prem</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r>
              <a:tr h="566928">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Deployment</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mvn quarkus:dev</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JAR + Elastic APM agent — on the servers you already run</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r>
              <a:tr h="566928">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Documents</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6 newsletter PDFs</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Your real corpus, re-ingested on a schedule</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r>
              <a:tr h="566928">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Cost shape</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Pennies</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c>
                  <a:txBody>
                    <a:bodyPr/>
                    <a:lstStyle/>
                    <a:p>
                      <a:pPr algn="l" indent="0" marL="0">
                        <a:buNone/>
                      </a:pPr>
                      <a:r>
                        <a:rPr lang="en-US" sz="1300" dirty="0">
                          <a:solidFill>
                            <a:srgbClr val="CBD5E1"/>
                          </a:solidFill>
                          <a:latin typeface="Calibri" pitchFamily="34" charset="0"/>
                          <a:ea typeface="Calibri" pitchFamily="34" charset="-122"/>
                          <a:cs typeface="Calibri" pitchFamily="34" charset="-120"/>
                        </a:rPr>
                        <a:t>Scales ~linearly with tokens; infra stays flat</a:t>
                      </a:r>
                      <a:endParaRPr lang="en-US" sz="1300" dirty="0">
                        <a:latin typeface="Calibri" charset="0"/>
                        <a:ea typeface="Calibri" charset="0"/>
                        <a:cs typeface="Calibri" charset="0"/>
                      </a:endParaRPr>
                    </a:p>
                  </a:txBody>
                  <a:tcPr marL="101600" marR="101600" marT="50800" marB="50800" anchor="ctr">
                    <a:lnL w="12700" cap="flat" cmpd="sng" algn="ctr">
                      <a:solidFill>
                        <a:srgbClr val="2B3A52"/>
                      </a:solidFill>
                      <a:prstDash val="solid"/>
                      <a:round/>
                      <a:headEnd type="none" w="med" len="med"/>
                      <a:tailEnd type="none" w="med" len="med"/>
                    </a:lnL>
                    <a:lnR w="12700" cap="flat" cmpd="sng" algn="ctr">
                      <a:solidFill>
                        <a:srgbClr val="2B3A52"/>
                      </a:solidFill>
                      <a:prstDash val="solid"/>
                      <a:round/>
                      <a:headEnd type="none" w="med" len="med"/>
                      <a:tailEnd type="none" w="med" len="med"/>
                    </a:lnR>
                    <a:lnT w="12700" cap="flat" cmpd="sng" algn="ctr">
                      <a:solidFill>
                        <a:srgbClr val="2B3A52"/>
                      </a:solidFill>
                      <a:prstDash val="solid"/>
                      <a:round/>
                      <a:headEnd type="none" w="med" len="med"/>
                      <a:tailEnd type="none" w="med" len="med"/>
                    </a:lnT>
                    <a:lnB w="12700" cap="flat" cmpd="sng" algn="ctr">
                      <a:solidFill>
                        <a:srgbClr val="2B3A52"/>
                      </a:solidFill>
                      <a:prstDash val="solid"/>
                      <a:round/>
                      <a:headEnd type="none" w="med" len="med"/>
                      <a:tailEnd type="none" w="med" len="med"/>
                    </a:lnB>
                    <a:solidFill>
                      <a:srgbClr val="1E293B"/>
                    </a:solidFill>
                  </a:tcPr>
                </a:tc>
              </a:tr>
            </a:tbl>
          </a:graphicData>
        </a:graphic>
      </p:graphicFrame>
      <p:sp>
        <p:nvSpPr>
          <p:cNvPr id="6" name="Text 3"/>
          <p:cNvSpPr/>
          <p:nvPr/>
        </p:nvSpPr>
        <p:spPr>
          <a:xfrm>
            <a:off x="640080" y="5989320"/>
            <a:ext cx="10911535" cy="457200"/>
          </a:xfrm>
          <a:prstGeom prst="rect">
            <a:avLst/>
          </a:prstGeom>
          <a:noFill/>
          <a:ln/>
        </p:spPr>
        <p:txBody>
          <a:bodyPr wrap="square" lIns="0" tIns="0" rIns="0" bIns="0" rtlCol="0" anchor="ctr"/>
          <a:lstStyle/>
          <a:p>
            <a:pPr algn="l" indent="0" marL="0">
              <a:buNone/>
            </a:pPr>
            <a:r>
              <a:rPr lang="en-US" sz="1350" b="1" dirty="0">
                <a:solidFill>
                  <a:srgbClr val="FF4D6A"/>
                </a:solidFill>
                <a:latin typeface="Calibri" pitchFamily="34" charset="0"/>
                <a:ea typeface="Calibri" pitchFamily="34" charset="-122"/>
                <a:cs typeface="Calibri" pitchFamily="34" charset="-120"/>
              </a:rPr>
              <a:t>The point:  </a:t>
            </a:r>
            <a:pPr algn="l" indent="0" marL="0">
              <a:buNone/>
            </a:pPr>
            <a:r>
              <a:rPr lang="en-US" sz="1350" dirty="0">
                <a:solidFill>
                  <a:srgbClr val="CBD5E1"/>
                </a:solidFill>
                <a:latin typeface="Calibri" pitchFamily="34" charset="0"/>
                <a:ea typeface="Calibri" pitchFamily="34" charset="-122"/>
                <a:cs typeface="Calibri" pitchFamily="34" charset="-120"/>
              </a:rPr>
              <a:t>every right-hand cell is a dependency or a property — not an architectural change. Your DevOps team keeps their runbook.</a:t>
            </a:r>
            <a:endParaRPr lang="en-US" sz="1350" dirty="0"/>
          </a:p>
        </p:txBody>
      </p:sp>
      <p:sp>
        <p:nvSpPr>
          <p:cNvPr id="8" name="Text 4"/>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9" name="Text 5"/>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9601200" y="-914400"/>
            <a:ext cx="3200400" cy="4572000"/>
          </a:xfrm>
          <a:prstGeom prst="rect">
            <a:avLst/>
          </a:prstGeom>
          <a:noFill/>
          <a:ln/>
        </p:spPr>
        <p:txBody>
          <a:bodyPr wrap="square" lIns="0" tIns="0" rIns="0" bIns="0" rtlCol="0" anchor="ctr"/>
          <a:lstStyle/>
          <a:p>
            <a:pPr algn="r" indent="0" marL="0">
              <a:buNone/>
            </a:pPr>
            <a:r>
              <a:rPr lang="en-US" sz="22000" b="1" dirty="0">
                <a:solidFill>
                  <a:srgbClr val="16202F"/>
                </a:solidFill>
                <a:latin typeface="Arial" pitchFamily="34" charset="0"/>
                <a:ea typeface="Arial" pitchFamily="34" charset="-122"/>
                <a:cs typeface="Arial" pitchFamily="34" charset="-120"/>
              </a:rPr>
              <a:t>//</a:t>
            </a:r>
            <a:endParaRPr lang="en-US" sz="22000" dirty="0"/>
          </a:p>
        </p:txBody>
      </p:sp>
      <p:pic>
        <p:nvPicPr>
          <p:cNvPr id="3" name="Image 0" descr="preencoded.png">    </p:cNvPr>
          <p:cNvPicPr>
            <a:picLocks noChangeAspect="1"/>
          </p:cNvPicPr>
          <p:nvPr/>
        </p:nvPicPr>
        <p:blipFill>
          <a:blip r:embed="rId1"/>
          <a:stretch>
            <a:fillRect/>
          </a:stretch>
        </p:blipFill>
        <p:spPr>
          <a:xfrm>
            <a:off x="640080" y="1371600"/>
            <a:ext cx="640080" cy="640080"/>
          </a:xfrm>
          <a:prstGeom prst="rect">
            <a:avLst/>
          </a:prstGeom>
        </p:spPr>
      </p:pic>
      <p:sp>
        <p:nvSpPr>
          <p:cNvPr id="4" name="Text 1"/>
          <p:cNvSpPr/>
          <p:nvPr/>
        </p:nvSpPr>
        <p:spPr>
          <a:xfrm>
            <a:off x="640080" y="2194560"/>
            <a:ext cx="10058400" cy="1554480"/>
          </a:xfrm>
          <a:prstGeom prst="rect">
            <a:avLst/>
          </a:prstGeom>
          <a:noFill/>
          <a:ln/>
        </p:spPr>
        <p:txBody>
          <a:bodyPr wrap="square" lIns="0" tIns="0" rIns="0" bIns="0" rtlCol="0" anchor="t"/>
          <a:lstStyle/>
          <a:p>
            <a:pPr algn="l" indent="0" marL="0">
              <a:lnSpc>
                <a:spcPct val="105000"/>
              </a:lnSpc>
              <a:buNone/>
            </a:pPr>
            <a:r>
              <a:rPr lang="en-US" sz="4000" b="1" dirty="0">
                <a:solidFill>
                  <a:srgbClr val="FFFFFF"/>
                </a:solidFill>
                <a:latin typeface="Arial" pitchFamily="34" charset="0"/>
                <a:ea typeface="Arial" pitchFamily="34" charset="-122"/>
                <a:cs typeface="Arial" pitchFamily="34" charset="-120"/>
              </a:rPr>
              <a:t>If you can write a REST endpoint,</a:t>
            </a:r>
            <a:endParaRPr lang="en-US" sz="4000" dirty="0"/>
          </a:p>
          <a:p>
            <a:pPr algn="l" indent="0" marL="0">
              <a:lnSpc>
                <a:spcPct val="105000"/>
              </a:lnSpc>
              <a:buNone/>
            </a:pPr>
            <a:r>
              <a:rPr lang="en-US" sz="4000" b="1" dirty="0">
                <a:solidFill>
                  <a:srgbClr val="FFFFFF"/>
                </a:solidFill>
                <a:latin typeface="Arial" pitchFamily="34" charset="0"/>
                <a:ea typeface="Arial" pitchFamily="34" charset="-122"/>
                <a:cs typeface="Arial" pitchFamily="34" charset="-120"/>
              </a:rPr>
              <a:t>you can build an AI feature.</a:t>
            </a:r>
            <a:endParaRPr lang="en-US" sz="4000" dirty="0"/>
          </a:p>
        </p:txBody>
      </p:sp>
      <p:sp>
        <p:nvSpPr>
          <p:cNvPr id="5" name="Text 2"/>
          <p:cNvSpPr/>
          <p:nvPr/>
        </p:nvSpPr>
        <p:spPr>
          <a:xfrm>
            <a:off x="640080" y="3886200"/>
            <a:ext cx="9601200" cy="914400"/>
          </a:xfrm>
          <a:prstGeom prst="rect">
            <a:avLst/>
          </a:prstGeom>
          <a:noFill/>
          <a:ln/>
        </p:spPr>
        <p:txBody>
          <a:bodyPr wrap="square" lIns="0" tIns="0" rIns="0" bIns="0" rtlCol="0" anchor="t"/>
          <a:lstStyle/>
          <a:p>
            <a:pPr algn="l" indent="0" marL="0">
              <a:buNone/>
            </a:pPr>
            <a:r>
              <a:rPr lang="en-US" sz="1700" i="1" dirty="0">
                <a:solidFill>
                  <a:srgbClr val="8294AE"/>
                </a:solidFill>
                <a:latin typeface="Calibri" pitchFamily="34" charset="0"/>
                <a:ea typeface="Calibri" pitchFamily="34" charset="-122"/>
                <a:cs typeface="Calibri" pitchFamily="34" charset="-120"/>
              </a:rPr>
              <a:t>You've been overthinking it. The hard part was never the model — it was wiring it to your data safely, and that's the part Java has always been good at.</a:t>
            </a:r>
            <a:endParaRPr lang="en-US" sz="1700" dirty="0"/>
          </a:p>
        </p:txBody>
      </p:sp>
      <p:sp>
        <p:nvSpPr>
          <p:cNvPr id="6" name="Shape 3"/>
          <p:cNvSpPr/>
          <p:nvPr/>
        </p:nvSpPr>
        <p:spPr>
          <a:xfrm>
            <a:off x="640080" y="4983480"/>
            <a:ext cx="2304288" cy="502920"/>
          </a:xfrm>
          <a:prstGeom prst="roundRect">
            <a:avLst>
              <a:gd name="adj" fmla="val 49091"/>
            </a:avLst>
          </a:prstGeom>
          <a:solidFill>
            <a:srgbClr val="1E293B"/>
          </a:solidFill>
          <a:ln w="12700">
            <a:solidFill>
              <a:srgbClr val="34D399"/>
            </a:solidFill>
            <a:prstDash val="solid"/>
          </a:ln>
        </p:spPr>
      </p:sp>
      <p:sp>
        <p:nvSpPr>
          <p:cNvPr id="7" name="Text 4"/>
          <p:cNvSpPr/>
          <p:nvPr/>
        </p:nvSpPr>
        <p:spPr>
          <a:xfrm>
            <a:off x="640080" y="4983480"/>
            <a:ext cx="2304288" cy="502920"/>
          </a:xfrm>
          <a:prstGeom prst="rect">
            <a:avLst/>
          </a:prstGeom>
          <a:noFill/>
          <a:ln/>
        </p:spPr>
        <p:txBody>
          <a:bodyPr wrap="square" lIns="0" tIns="0" rIns="0" bIns="0" rtlCol="0" anchor="ctr"/>
          <a:lstStyle/>
          <a:p>
            <a:pPr algn="ctr" indent="0" marL="0">
              <a:buNone/>
            </a:pPr>
            <a:r>
              <a:rPr lang="en-US" sz="1300" b="1" dirty="0">
                <a:solidFill>
                  <a:srgbClr val="34D399"/>
                </a:solidFill>
                <a:latin typeface="Calibri" pitchFamily="34" charset="0"/>
                <a:ea typeface="Calibri" pitchFamily="34" charset="-122"/>
                <a:cs typeface="Calibri" pitchFamily="34" charset="-120"/>
              </a:rPr>
              <a:t>Ground it with RAG</a:t>
            </a:r>
            <a:endParaRPr lang="en-US" sz="1300" dirty="0"/>
          </a:p>
        </p:txBody>
      </p:sp>
      <p:sp>
        <p:nvSpPr>
          <p:cNvPr id="8" name="Shape 5"/>
          <p:cNvSpPr/>
          <p:nvPr/>
        </p:nvSpPr>
        <p:spPr>
          <a:xfrm>
            <a:off x="3172968" y="4983480"/>
            <a:ext cx="1673352" cy="502920"/>
          </a:xfrm>
          <a:prstGeom prst="roundRect">
            <a:avLst>
              <a:gd name="adj" fmla="val 49091"/>
            </a:avLst>
          </a:prstGeom>
          <a:solidFill>
            <a:srgbClr val="1E293B"/>
          </a:solidFill>
          <a:ln w="12700">
            <a:solidFill>
              <a:srgbClr val="34D399"/>
            </a:solidFill>
            <a:prstDash val="solid"/>
          </a:ln>
        </p:spPr>
      </p:sp>
      <p:sp>
        <p:nvSpPr>
          <p:cNvPr id="9" name="Text 6"/>
          <p:cNvSpPr/>
          <p:nvPr/>
        </p:nvSpPr>
        <p:spPr>
          <a:xfrm>
            <a:off x="3172968" y="4983480"/>
            <a:ext cx="1673352" cy="502920"/>
          </a:xfrm>
          <a:prstGeom prst="rect">
            <a:avLst/>
          </a:prstGeom>
          <a:noFill/>
          <a:ln/>
        </p:spPr>
        <p:txBody>
          <a:bodyPr wrap="square" lIns="0" tIns="0" rIns="0" bIns="0" rtlCol="0" anchor="ctr"/>
          <a:lstStyle/>
          <a:p>
            <a:pPr algn="ctr" indent="0" marL="0">
              <a:buNone/>
            </a:pPr>
            <a:r>
              <a:rPr lang="en-US" sz="1300" b="1" dirty="0">
                <a:solidFill>
                  <a:srgbClr val="34D399"/>
                </a:solidFill>
                <a:latin typeface="Calibri" pitchFamily="34" charset="0"/>
                <a:ea typeface="Calibri" pitchFamily="34" charset="-122"/>
                <a:cs typeface="Calibri" pitchFamily="34" charset="-120"/>
              </a:rPr>
              <a:t>Stay in Java</a:t>
            </a:r>
            <a:endParaRPr lang="en-US" sz="1300" dirty="0"/>
          </a:p>
        </p:txBody>
      </p:sp>
      <p:sp>
        <p:nvSpPr>
          <p:cNvPr id="10" name="Shape 7"/>
          <p:cNvSpPr/>
          <p:nvPr/>
        </p:nvSpPr>
        <p:spPr>
          <a:xfrm>
            <a:off x="5074920" y="4983480"/>
            <a:ext cx="1778508" cy="502920"/>
          </a:xfrm>
          <a:prstGeom prst="roundRect">
            <a:avLst>
              <a:gd name="adj" fmla="val 49091"/>
            </a:avLst>
          </a:prstGeom>
          <a:solidFill>
            <a:srgbClr val="1E293B"/>
          </a:solidFill>
          <a:ln w="12700">
            <a:solidFill>
              <a:srgbClr val="34D399"/>
            </a:solidFill>
            <a:prstDash val="solid"/>
          </a:ln>
        </p:spPr>
      </p:sp>
      <p:sp>
        <p:nvSpPr>
          <p:cNvPr id="11" name="Text 8"/>
          <p:cNvSpPr/>
          <p:nvPr/>
        </p:nvSpPr>
        <p:spPr>
          <a:xfrm>
            <a:off x="5074920" y="4983480"/>
            <a:ext cx="1778508" cy="502920"/>
          </a:xfrm>
          <a:prstGeom prst="rect">
            <a:avLst/>
          </a:prstGeom>
          <a:noFill/>
          <a:ln/>
        </p:spPr>
        <p:txBody>
          <a:bodyPr wrap="square" lIns="0" tIns="0" rIns="0" bIns="0" rtlCol="0" anchor="ctr"/>
          <a:lstStyle/>
          <a:p>
            <a:pPr algn="ctr" indent="0" marL="0">
              <a:buNone/>
            </a:pPr>
            <a:r>
              <a:rPr lang="en-US" sz="1300" b="1" dirty="0">
                <a:solidFill>
                  <a:srgbClr val="34D399"/>
                </a:solidFill>
                <a:latin typeface="Calibri" pitchFamily="34" charset="0"/>
                <a:ea typeface="Calibri" pitchFamily="34" charset="-122"/>
                <a:cs typeface="Calibri" pitchFamily="34" charset="-120"/>
              </a:rPr>
              <a:t>Keep your APM</a:t>
            </a:r>
            <a:endParaRPr lang="en-US" sz="1300" dirty="0"/>
          </a:p>
        </p:txBody>
      </p:sp>
      <p:sp>
        <p:nvSpPr>
          <p:cNvPr id="12" name="Shape 9"/>
          <p:cNvSpPr/>
          <p:nvPr/>
        </p:nvSpPr>
        <p:spPr>
          <a:xfrm>
            <a:off x="7082028" y="4983480"/>
            <a:ext cx="1673352" cy="502920"/>
          </a:xfrm>
          <a:prstGeom prst="roundRect">
            <a:avLst>
              <a:gd name="adj" fmla="val 49091"/>
            </a:avLst>
          </a:prstGeom>
          <a:solidFill>
            <a:srgbClr val="1E293B"/>
          </a:solidFill>
          <a:ln w="12700">
            <a:solidFill>
              <a:srgbClr val="34D399"/>
            </a:solidFill>
            <a:prstDash val="solid"/>
          </a:ln>
        </p:spPr>
      </p:sp>
      <p:sp>
        <p:nvSpPr>
          <p:cNvPr id="13" name="Text 10"/>
          <p:cNvSpPr/>
          <p:nvPr/>
        </p:nvSpPr>
        <p:spPr>
          <a:xfrm>
            <a:off x="7082028" y="4983480"/>
            <a:ext cx="1673352" cy="502920"/>
          </a:xfrm>
          <a:prstGeom prst="rect">
            <a:avLst/>
          </a:prstGeom>
          <a:noFill/>
          <a:ln/>
        </p:spPr>
        <p:txBody>
          <a:bodyPr wrap="square" lIns="0" tIns="0" rIns="0" bIns="0" rtlCol="0" anchor="ctr"/>
          <a:lstStyle/>
          <a:p>
            <a:pPr algn="ctr" indent="0" marL="0">
              <a:buNone/>
            </a:pPr>
            <a:r>
              <a:rPr lang="en-US" sz="1300" b="1" dirty="0">
                <a:solidFill>
                  <a:srgbClr val="34D399"/>
                </a:solidFill>
                <a:latin typeface="Calibri" pitchFamily="34" charset="0"/>
                <a:ea typeface="Calibri" pitchFamily="34" charset="-122"/>
                <a:cs typeface="Calibri" pitchFamily="34" charset="-120"/>
              </a:rPr>
              <a:t>Ship the JAR</a:t>
            </a:r>
            <a:endParaRPr lang="en-US" sz="1300" dirty="0"/>
          </a:p>
        </p:txBody>
      </p:sp>
      <p:sp>
        <p:nvSpPr>
          <p:cNvPr id="14" name="Shape 11"/>
          <p:cNvSpPr/>
          <p:nvPr/>
        </p:nvSpPr>
        <p:spPr>
          <a:xfrm>
            <a:off x="640080" y="5806440"/>
            <a:ext cx="10911535" cy="0"/>
          </a:xfrm>
          <a:prstGeom prst="line">
            <a:avLst/>
          </a:prstGeom>
          <a:noFill/>
          <a:ln w="12700">
            <a:solidFill>
              <a:srgbClr val="2B3A52"/>
            </a:solidFill>
            <a:prstDash val="solid"/>
          </a:ln>
        </p:spPr>
      </p:sp>
      <p:sp>
        <p:nvSpPr>
          <p:cNvPr id="15" name="Text 12"/>
          <p:cNvSpPr/>
          <p:nvPr/>
        </p:nvSpPr>
        <p:spPr>
          <a:xfrm>
            <a:off x="640080" y="5989320"/>
            <a:ext cx="10911535"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Thanks — questions welcome.    </a:t>
            </a:r>
            <a:pPr algn="l" indent="0" marL="0">
              <a:buNone/>
            </a:pPr>
            <a:r>
              <a:rPr lang="en-US" sz="1200" dirty="0">
                <a:solidFill>
                  <a:srgbClr val="8294AE"/>
                </a:solidFill>
                <a:latin typeface="Courier New" pitchFamily="34" charset="0"/>
                <a:ea typeface="Courier New" pitchFamily="34" charset="-122"/>
                <a:cs typeface="Courier New" pitchFamily="34" charset="-120"/>
              </a:rPr>
              <a:t>github.com/langchain4j  ·  quarkus.io/guides  ·  docs.quarkiverse.io/quarkus-langchain4j</a:t>
            </a:r>
            <a:endParaRPr lang="en-US" sz="1500" dirty="0"/>
          </a:p>
        </p:txBody>
      </p:sp>
      <p:sp>
        <p:nvSpPr>
          <p:cNvPr id="17" name="Text 13"/>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900" dirty="0">
                <a:solidFill>
                  <a:srgbClr val="8294AE"/>
                </a:solidFill>
                <a:latin typeface="Calibri" pitchFamily="34" charset="0"/>
                <a:ea typeface="Calibri" pitchFamily="34" charset="-122"/>
                <a:cs typeface="Calibri" pitchFamily="34" charset="-120"/>
              </a:rPr>
              <a:t>RAG, Four Ways</a:t>
            </a:r>
            <a:pPr algn="l" indent="0" marL="0">
              <a:buNone/>
            </a:pPr>
            <a:r>
              <a:rPr lang="en-US" sz="900" dirty="0">
                <a:solidFill>
                  <a:srgbClr val="2B3A52"/>
                </a:solidFill>
                <a:latin typeface="Calibri" pitchFamily="34" charset="0"/>
                <a:ea typeface="Calibri" pitchFamily="34" charset="-122"/>
                <a:cs typeface="Calibri" pitchFamily="34" charset="-120"/>
              </a:rPr>
              <a:t>   ·   Quarkus + LangChain4j</a:t>
            </a:r>
            <a:endParaRPr lang="en-US" sz="900" dirty="0"/>
          </a:p>
        </p:txBody>
      </p:sp>
      <p:sp>
        <p:nvSpPr>
          <p:cNvPr id="18" name="Text 14"/>
          <p:cNvSpPr/>
          <p:nvPr/>
        </p:nvSpPr>
        <p:spPr>
          <a:xfrm>
            <a:off x="10820095" y="6400800"/>
            <a:ext cx="731520" cy="274320"/>
          </a:xfrm>
          <a:prstGeom prst="rect">
            <a:avLst/>
          </a:prstGeom>
          <a:noFill/>
          <a:ln/>
        </p:spPr>
        <p:txBody>
          <a:bodyPr wrap="square" lIns="0" tIns="0" rIns="0" bIns="0" rtlCol="0" anchor="ctr"/>
          <a:lstStyle/>
          <a:p>
            <a:pPr algn="r" indent="0" marL="0">
              <a:buNone/>
            </a:pPr>
            <a:r>
              <a:rPr lang="en-US" sz="900" dirty="0">
                <a:solidFill>
                  <a:srgbClr val="8294AE"/>
                </a:solidFill>
                <a:latin typeface="Courier New" pitchFamily="34" charset="0"/>
                <a:ea typeface="Courier New" pitchFamily="34" charset="-122"/>
                <a:cs typeface="Courier New"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Four Ways — Quarkus + LangChain4j</dc:title>
  <dc:subject>PptxGenJS Presentation</dc:subject>
  <dc:creator>Rolf Dobbelaere</dc:creator>
  <cp:lastModifiedBy>Rolf Dobbelaere</cp:lastModifiedBy>
  <cp:revision>1</cp:revision>
  <dcterms:created xsi:type="dcterms:W3CDTF">2026-06-28T13:08:34Z</dcterms:created>
  <dcterms:modified xsi:type="dcterms:W3CDTF">2026-06-28T13:08:34Z</dcterms:modified>
</cp:coreProperties>
</file>